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8" r:id="rId2"/>
    <p:sldId id="271" r:id="rId3"/>
    <p:sldId id="375" r:id="rId4"/>
    <p:sldId id="359" r:id="rId5"/>
    <p:sldId id="284" r:id="rId6"/>
    <p:sldId id="360" r:id="rId7"/>
    <p:sldId id="361" r:id="rId8"/>
    <p:sldId id="362" r:id="rId9"/>
    <p:sldId id="363" r:id="rId10"/>
    <p:sldId id="358" r:id="rId11"/>
    <p:sldId id="365" r:id="rId12"/>
    <p:sldId id="364" r:id="rId13"/>
    <p:sldId id="366" r:id="rId14"/>
    <p:sldId id="369" r:id="rId15"/>
    <p:sldId id="370" r:id="rId16"/>
    <p:sldId id="382" r:id="rId17"/>
    <p:sldId id="331" r:id="rId18"/>
    <p:sldId id="333" r:id="rId19"/>
    <p:sldId id="334" r:id="rId20"/>
    <p:sldId id="335" r:id="rId21"/>
    <p:sldId id="330" r:id="rId22"/>
    <p:sldId id="336" r:id="rId23"/>
    <p:sldId id="327" r:id="rId24"/>
    <p:sldId id="329" r:id="rId25"/>
    <p:sldId id="337" r:id="rId26"/>
    <p:sldId id="332" r:id="rId27"/>
    <p:sldId id="340" r:id="rId28"/>
    <p:sldId id="383" r:id="rId29"/>
    <p:sldId id="372" r:id="rId30"/>
    <p:sldId id="373" r:id="rId31"/>
    <p:sldId id="376" r:id="rId32"/>
    <p:sldId id="377" r:id="rId33"/>
    <p:sldId id="378" r:id="rId34"/>
    <p:sldId id="379" r:id="rId35"/>
    <p:sldId id="380" r:id="rId36"/>
    <p:sldId id="384" r:id="rId37"/>
    <p:sldId id="385" r:id="rId38"/>
    <p:sldId id="278" r:id="rId39"/>
    <p:sldId id="279" r:id="rId40"/>
    <p:sldId id="283" r:id="rId41"/>
    <p:sldId id="280" r:id="rId42"/>
    <p:sldId id="381" r:id="rId43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8E0"/>
    <a:srgbClr val="CCFFCC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1 </a:t>
            </a:r>
            <a:br>
              <a:rPr lang="en-US" sz="6600" dirty="0"/>
            </a:br>
            <a:r>
              <a:rPr lang="en-US" sz="6600" dirty="0"/>
              <a:t>Data Types and Combinational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EL-GY 9463:  Introduction to Hardware Design</a:t>
            </a:r>
          </a:p>
          <a:p>
            <a:r>
              <a:rPr lang="en-US" dirty="0" err="1"/>
              <a:t>ProfS.</a:t>
            </a:r>
            <a:r>
              <a:rPr lang="en-US" dirty="0"/>
              <a:t>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Represent signals in </a:t>
            </a:r>
            <a:r>
              <a:rPr lang="en-US" sz="2400" dirty="0" err="1"/>
              <a:t>SystemVerilog</a:t>
            </a:r>
            <a:r>
              <a:rPr lang="en-US" sz="2400" dirty="0"/>
              <a:t> of various types:</a:t>
            </a:r>
          </a:p>
          <a:p>
            <a:pPr lvl="1"/>
            <a:r>
              <a:rPr lang="en-US" sz="2200" dirty="0"/>
              <a:t>Logical vectors and signed and unsigned integers</a:t>
            </a:r>
            <a:endParaRPr lang="en-US" sz="2200" dirty="0">
              <a:solidFill>
                <a:schemeClr val="accent1"/>
              </a:solidFill>
            </a:endParaRPr>
          </a:p>
          <a:p>
            <a:r>
              <a:rPr lang="en-US" sz="2400" dirty="0"/>
              <a:t>Implement arithmetic operations (additions, multiplications, bit operations)</a:t>
            </a:r>
          </a:p>
          <a:p>
            <a:r>
              <a:rPr lang="en-US" sz="2400" dirty="0"/>
              <a:t>Identify cases for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overflow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truncation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Create simple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 </a:t>
            </a:r>
            <a:r>
              <a:rPr lang="en-US" sz="2400" dirty="0">
                <a:solidFill>
                  <a:schemeClr val="tx1"/>
                </a:solidFill>
              </a:rPr>
              <a:t>modules to implement functions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Draw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diagram representation </a:t>
            </a:r>
            <a:r>
              <a:rPr lang="en-US" sz="2400" dirty="0">
                <a:solidFill>
                  <a:schemeClr val="tx1"/>
                </a:solidFill>
              </a:rPr>
              <a:t>of the module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DBD8-97BD-BD4B-0778-271EFC52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D057-D3F2-E232-A2EC-F5F7BB62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3D57-8DAD-6747-B49B-441425F5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C136-6EC3-17C9-7DA2-B52F0D5D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D70949-E262-43AA-4CF2-AF66F64A569E}"/>
              </a:ext>
            </a:extLst>
          </p:cNvPr>
          <p:cNvSpPr/>
          <p:nvPr/>
        </p:nvSpPr>
        <p:spPr>
          <a:xfrm>
            <a:off x="433915" y="14418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9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A70C-6A7B-A44B-619F-C8E9F1E3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Description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929C-B361-E992-2894-61D42D74F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Description Language (HDL)</a:t>
            </a:r>
          </a:p>
          <a:p>
            <a:pPr lvl="1"/>
            <a:r>
              <a:rPr lang="en-US" dirty="0"/>
              <a:t>Example:  Verilog, </a:t>
            </a:r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Describes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structure </a:t>
            </a: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behavior</a:t>
            </a:r>
          </a:p>
          <a:p>
            <a:pPr lvl="1"/>
            <a:r>
              <a:rPr lang="en-US" dirty="0"/>
              <a:t>Items natively run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parallel</a:t>
            </a:r>
          </a:p>
          <a:p>
            <a:pPr lvl="1"/>
            <a:r>
              <a:rPr lang="en-US" dirty="0"/>
              <a:t>Code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Code becomes to logic elements, registers, …</a:t>
            </a:r>
          </a:p>
          <a:p>
            <a:pPr lvl="1"/>
            <a:r>
              <a:rPr lang="en-US" dirty="0"/>
              <a:t>Also become testbenches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2C444-C8C7-2807-7D38-AD9C93B8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86B204-7E34-4ACB-7BC1-2F8BDA0B3B22}"/>
              </a:ext>
            </a:extLst>
          </p:cNvPr>
          <p:cNvSpPr txBox="1">
            <a:spLocks/>
          </p:cNvSpPr>
          <p:nvPr/>
        </p:nvSpPr>
        <p:spPr>
          <a:xfrm>
            <a:off x="6299202" y="1539276"/>
            <a:ext cx="479552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Software</a:t>
            </a:r>
          </a:p>
          <a:p>
            <a:pPr lvl="1"/>
            <a:r>
              <a:rPr lang="en-US" dirty="0"/>
              <a:t>Example:  C, python</a:t>
            </a:r>
          </a:p>
          <a:p>
            <a:pPr lvl="1"/>
            <a:r>
              <a:rPr lang="en-US" dirty="0"/>
              <a:t>Describes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sequential</a:t>
            </a:r>
            <a:r>
              <a:rPr lang="en-US" dirty="0"/>
              <a:t> behavior</a:t>
            </a:r>
          </a:p>
          <a:p>
            <a:pPr lvl="1"/>
            <a:r>
              <a:rPr lang="en-US" dirty="0"/>
              <a:t>One instruction after another	</a:t>
            </a:r>
          </a:p>
          <a:p>
            <a:pPr lvl="1"/>
            <a:r>
              <a:rPr lang="en-US" dirty="0"/>
              <a:t>Code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compiled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Becomes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machine code </a:t>
            </a:r>
            <a:r>
              <a:rPr lang="en-US" dirty="0"/>
              <a:t>for a processor</a:t>
            </a:r>
          </a:p>
        </p:txBody>
      </p:sp>
      <p:pic>
        <p:nvPicPr>
          <p:cNvPr id="1026" name="Picture 2" descr="Logic Gate Examples">
            <a:extLst>
              <a:ext uri="{FF2B5EF4-FFF2-40B4-BE49-F238E27FC236}">
                <a16:creationId xmlns:a16="http://schemas.microsoft.com/office/drawing/2014/main" id="{7254A09A-C8AB-2B23-67C4-EA6D8BC21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4242574"/>
            <a:ext cx="2289175" cy="162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rting Python — Python Beginners ...">
            <a:extLst>
              <a:ext uri="{FF2B5EF4-FFF2-40B4-BE49-F238E27FC236}">
                <a16:creationId xmlns:a16="http://schemas.microsoft.com/office/drawing/2014/main" id="{AEDF925E-6AA8-A3DF-BA77-7ABAB409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745" y="3811588"/>
            <a:ext cx="3212374" cy="190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8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F688-1E1C-DE63-651F-86BBFB21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vs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FDDC-091C-3DB4-2329-A530676D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Verilog</a:t>
            </a:r>
          </a:p>
          <a:p>
            <a:pPr lvl="1"/>
            <a:r>
              <a:rPr lang="en-US" sz="2200" dirty="0"/>
              <a:t>Created in 1983-84</a:t>
            </a:r>
          </a:p>
          <a:p>
            <a:pPr lvl="1"/>
            <a:r>
              <a:rPr lang="en-US" sz="2200" dirty="0"/>
              <a:t>Standardized in 1995.  Became mainstream RTL</a:t>
            </a:r>
          </a:p>
          <a:p>
            <a:pPr lvl="1"/>
            <a:r>
              <a:rPr lang="en-US" sz="2200" dirty="0"/>
              <a:t>Largely used for legacy designs</a:t>
            </a:r>
          </a:p>
          <a:p>
            <a:pPr lvl="1"/>
            <a:endParaRPr lang="en-US" sz="2200" dirty="0"/>
          </a:p>
          <a:p>
            <a:r>
              <a:rPr lang="en-US" sz="2400" dirty="0">
                <a:solidFill>
                  <a:schemeClr val="accent1"/>
                </a:solidFill>
              </a:rPr>
              <a:t>System Verilog (this unit)</a:t>
            </a:r>
          </a:p>
          <a:p>
            <a:pPr lvl="1"/>
            <a:r>
              <a:rPr lang="en-US" sz="2200" dirty="0"/>
              <a:t>Developed in 2002</a:t>
            </a:r>
          </a:p>
          <a:p>
            <a:pPr lvl="1"/>
            <a:r>
              <a:rPr lang="en-US" sz="2200" dirty="0"/>
              <a:t>Extends Verilog</a:t>
            </a:r>
          </a:p>
          <a:p>
            <a:pPr lvl="1"/>
            <a:r>
              <a:rPr lang="en-US" sz="2200" dirty="0"/>
              <a:t>Better abstraction, parameterization</a:t>
            </a:r>
          </a:p>
          <a:p>
            <a:pPr lvl="1"/>
            <a:r>
              <a:rPr lang="en-US" sz="2200" dirty="0"/>
              <a:t>Significantly improved testbench</a:t>
            </a:r>
          </a:p>
          <a:p>
            <a:pPr lvl="1"/>
            <a:r>
              <a:rPr lang="en-US" sz="2200" dirty="0"/>
              <a:t>Overwhelming design choice today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BFB3-6F6A-C9D6-82A5-AE6CA8DB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4098" name="Picture 2" descr="Guide to Verilog — Beginner Guide | by ...">
            <a:extLst>
              <a:ext uri="{FF2B5EF4-FFF2-40B4-BE49-F238E27FC236}">
                <a16:creationId xmlns:a16="http://schemas.microsoft.com/office/drawing/2014/main" id="{ADD75851-13C6-B643-8109-36384477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2010056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n open source SystemVerilog Test Suite">
            <a:extLst>
              <a:ext uri="{FF2B5EF4-FFF2-40B4-BE49-F238E27FC236}">
                <a16:creationId xmlns:a16="http://schemas.microsoft.com/office/drawing/2014/main" id="{801DBC8A-FE69-D5CD-7DDD-73B2C46A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3603644"/>
            <a:ext cx="3395329" cy="178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8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6AF0-B6A7-47F3-BA43-8EF3A038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and Logic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CA02-8E31-2E24-09DF-47348DE92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76550"/>
            <a:ext cx="10058400" cy="2992544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</a:t>
            </a:r>
            <a:r>
              <a:rPr lang="en-US" dirty="0"/>
              <a:t>:  Basic data type in System Verilog</a:t>
            </a:r>
          </a:p>
          <a:p>
            <a:pPr lvl="1"/>
            <a:r>
              <a:rPr lang="en-US" dirty="0"/>
              <a:t>Value 0, 1, X or Z</a:t>
            </a:r>
          </a:p>
          <a:p>
            <a:pPr lvl="1"/>
            <a:r>
              <a:rPr lang="en-US" dirty="0"/>
              <a:t>X = unknown or unspecified</a:t>
            </a:r>
          </a:p>
          <a:p>
            <a:pPr lvl="1"/>
            <a:r>
              <a:rPr lang="en-US" dirty="0"/>
              <a:t>Z = not connected</a:t>
            </a:r>
          </a:p>
          <a:p>
            <a:pPr lvl="1"/>
            <a:r>
              <a:rPr lang="en-US" dirty="0"/>
              <a:t>We will discuss X and Z later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 vector </a:t>
            </a:r>
          </a:p>
          <a:p>
            <a:pPr lvl="1"/>
            <a:r>
              <a:rPr lang="en-US" dirty="0"/>
              <a:t>A group of log bits</a:t>
            </a:r>
          </a:p>
          <a:p>
            <a:pPr lvl="1"/>
            <a:r>
              <a:rPr lang="en-US" dirty="0"/>
              <a:t>Each vector has a bit width.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DFBA-1DF7-DBCA-2948-F492A9D5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F4329-BB51-A663-7676-666D4604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67" y="1473798"/>
            <a:ext cx="7255539" cy="125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4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10B6-E695-EEA0-8CF3-5AFEDEBF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2724-E0FF-34F0-46B6-FAADF948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183A-1E79-4F9F-CA02-79C53A612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830" y="3349625"/>
            <a:ext cx="9841949" cy="21543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System Verilog has natural ways to pack and unpack bits</a:t>
            </a:r>
          </a:p>
          <a:p>
            <a:r>
              <a:rPr lang="en-US" dirty="0">
                <a:solidFill>
                  <a:schemeClr val="tx1"/>
                </a:solidFill>
              </a:rPr>
              <a:t>Note bits are always counted from 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069E-D6C1-E8D5-71FB-ACAF4C30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680F5-18B5-42F8-2926-F34C1CF6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30" y="1671988"/>
            <a:ext cx="7662575" cy="16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13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B840-B49A-BE3C-8B36-2D680B52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4D0DF-25FA-B773-45D2-C59F513A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6EA33-E134-9C1D-F128-EA7189CEC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92" y="1773080"/>
            <a:ext cx="9836594" cy="305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1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F4A9-0E06-98F9-C42F-68880260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E1D16-7AD7-2F1B-25D9-BF08DC20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DA1CD-5363-A54E-3CD8-03797D242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01662"/>
            <a:ext cx="8892169" cy="34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2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3AC3-C705-F782-67B5-B0A4B84A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23923-5E7C-A69A-B682-3FEF8E791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2088" y="3023840"/>
                <a:ext cx="9863592" cy="284525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Integers can be regarded naturally as logic vectors</a:t>
                </a:r>
              </a:p>
              <a:p>
                <a:r>
                  <a:rPr lang="en-US" dirty="0"/>
                  <a:t>Vector bit width will determine the range of the integer</a:t>
                </a:r>
              </a:p>
              <a:p>
                <a:r>
                  <a:rPr lang="en-US" dirty="0"/>
                  <a:t>Must indicate if the value is signed or unsigned: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Unsigned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bits.  Represents a value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Signed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bits:  Represents a value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Unsigned range is 0, …, 255.  </a:t>
                </a:r>
              </a:p>
              <a:p>
                <a:pPr lvl="1"/>
                <a:r>
                  <a:rPr lang="en-US" dirty="0"/>
                  <a:t>Signed range is -128, …, 127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23923-5E7C-A69A-B682-3FEF8E791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2088" y="3023840"/>
                <a:ext cx="9863592" cy="2845254"/>
              </a:xfrm>
              <a:blipFill>
                <a:blip r:embed="rId2"/>
                <a:stretch>
                  <a:fillRect l="-1483" t="-2998" b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16A83-FE31-5AB6-905E-93FCEBB2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BA0D8A-EF73-B6FE-D4DE-2A0D1103D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088" y="1623040"/>
            <a:ext cx="8158501" cy="10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2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A9C4-9936-4C15-2BD6-7624A1E0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Complement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8529-3D69-C472-8D04-49E406B99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Signed values are represented with two complement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represented by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-bit signed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Range 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:  the “sign” bit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−2:0]</m:t>
                    </m:r>
                  </m:oMath>
                </a14:m>
                <a:r>
                  <a:rPr lang="en-US" dirty="0"/>
                  <a:t>:  the “lower” bits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Sign 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Lower bits: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−2:0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Sign 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Lower bits: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−2:0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201168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8529-3D69-C472-8D04-49E406B99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9521C-F821-60B3-3E0A-B9EB8ACA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17088-D107-1AE8-0562-B9379CF234EF}"/>
              </a:ext>
            </a:extLst>
          </p:cNvPr>
          <p:cNvSpPr/>
          <p:nvPr/>
        </p:nvSpPr>
        <p:spPr>
          <a:xfrm>
            <a:off x="8756650" y="2161913"/>
            <a:ext cx="2678430" cy="52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66B17-6203-EDB0-62CA-74EEDEB3E4F9}"/>
              </a:ext>
            </a:extLst>
          </p:cNvPr>
          <p:cNvSpPr/>
          <p:nvPr/>
        </p:nvSpPr>
        <p:spPr>
          <a:xfrm>
            <a:off x="8032750" y="2155563"/>
            <a:ext cx="368300" cy="5270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CE4E0-F91A-C70C-4B9F-004DE224BE78}"/>
                  </a:ext>
                </a:extLst>
              </p:cNvPr>
              <p:cNvSpPr txBox="1"/>
              <p:nvPr/>
            </p:nvSpPr>
            <p:spPr>
              <a:xfrm>
                <a:off x="7747000" y="2782669"/>
                <a:ext cx="106394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Sign bit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CE4E0-F91A-C70C-4B9F-004DE224B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0" y="2782669"/>
                <a:ext cx="1063946" cy="646331"/>
              </a:xfrm>
              <a:prstGeom prst="rect">
                <a:avLst/>
              </a:prstGeom>
              <a:blipFill>
                <a:blip r:embed="rId3"/>
                <a:stretch>
                  <a:fillRect l="-5172" t="-4673" b="-7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038D09-46B6-46F9-8D5A-3D2861358E9D}"/>
                  </a:ext>
                </a:extLst>
              </p:cNvPr>
              <p:cNvSpPr txBox="1"/>
              <p:nvPr/>
            </p:nvSpPr>
            <p:spPr>
              <a:xfrm>
                <a:off x="9346794" y="2782668"/>
                <a:ext cx="13400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Lower bits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−2:0]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038D09-46B6-46F9-8D5A-3D286135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794" y="2782668"/>
                <a:ext cx="1340047" cy="646331"/>
              </a:xfrm>
              <a:prstGeom prst="rect">
                <a:avLst/>
              </a:prstGeom>
              <a:blipFill>
                <a:blip r:embed="rId4"/>
                <a:stretch>
                  <a:fillRect l="-3636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57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7C22-CE56-D58E-DB44-790A4A99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019E-53EA-6D26-4EAD-61C9D177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AAD75-C309-B98C-7A4B-98F7BF55C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42" y="1571366"/>
            <a:ext cx="9283442" cy="440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6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57A6-AA37-F724-9591-3550583D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Two’s Complement = Modulo Arithmetic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11882-010C-9885-6F52-C4FE31E21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Two’s complement is equivalent to modulo arithmetic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Modulo equality</a:t>
                </a:r>
                <a:r>
                  <a:rPr lang="en-US" dirty="0"/>
                  <a:t>: 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equal module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⟺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 = 18 = −14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16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2≠−2</m:t>
                    </m:r>
                  </m:oMath>
                </a14:m>
                <a:r>
                  <a:rPr lang="en-US" dirty="0"/>
                  <a:t> mod 16</a:t>
                </a:r>
              </a:p>
              <a:p>
                <a:r>
                  <a:rPr lang="en-US" dirty="0"/>
                  <a:t>Given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-bit two’s complement representation is the unique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Example:  Find the following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bits two’s complement representations: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0101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 (since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already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[0,15)</m:t>
                    </m:r>
                  </m:oMath>
                </a14:m>
                <a:r>
                  <a:rPr lang="en-US" dirty="0"/>
                  <a:t> 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=−5+16=11=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1011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11882-010C-9885-6F52-C4FE31E21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0D71-5D7C-A687-C503-186081D5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42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9EB9-7C68-9041-6A3C-1297179D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Literals and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192D-FAE4-9C96-2FC3-02B5ADC1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Literal</a:t>
            </a:r>
            <a:r>
              <a:rPr lang="en-US" dirty="0"/>
              <a:t>:  A value written directly in code (not stored in a storage element)</a:t>
            </a:r>
          </a:p>
          <a:p>
            <a:pPr lvl="1"/>
            <a:r>
              <a:rPr lang="en-US" dirty="0"/>
              <a:t>Constant.  Does not change</a:t>
            </a:r>
          </a:p>
          <a:p>
            <a:r>
              <a:rPr lang="en-US" dirty="0"/>
              <a:t>SV has a specific syntax:  &lt;</a:t>
            </a:r>
            <a:r>
              <a:rPr lang="en-US" dirty="0">
                <a:solidFill>
                  <a:schemeClr val="accent5"/>
                </a:solidFill>
              </a:rPr>
              <a:t>size</a:t>
            </a:r>
            <a:r>
              <a:rPr lang="en-US" dirty="0"/>
              <a:t>&gt;'&lt;</a:t>
            </a:r>
            <a:r>
              <a:rPr lang="en-US" dirty="0">
                <a:solidFill>
                  <a:srgbClr val="00B050"/>
                </a:solidFill>
              </a:rPr>
              <a:t>base</a:t>
            </a:r>
            <a:r>
              <a:rPr lang="en-US" dirty="0"/>
              <a:t>&gt;&lt;</a:t>
            </a:r>
            <a:r>
              <a:rPr lang="en-US" dirty="0">
                <a:solidFill>
                  <a:schemeClr val="accent2"/>
                </a:solidFill>
              </a:rPr>
              <a:t>digits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size</a:t>
            </a:r>
            <a:r>
              <a:rPr lang="en-US" dirty="0"/>
              <a:t>&gt; = number of bits.  If omitted, takes a default value, typically 32-bits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rgbClr val="00B050"/>
                </a:solidFill>
              </a:rPr>
              <a:t>base</a:t>
            </a:r>
            <a:r>
              <a:rPr lang="en-US" dirty="0"/>
              <a:t>&gt; = b, o, d, h : binary, octal, decimal, hex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accent2"/>
                </a:solidFill>
              </a:rPr>
              <a:t>digits</a:t>
            </a:r>
            <a:r>
              <a:rPr lang="en-US" dirty="0"/>
              <a:t>&gt; = value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8'd13 → 8‑bit decimal 13</a:t>
            </a:r>
          </a:p>
          <a:p>
            <a:pPr lvl="1"/>
            <a:r>
              <a:rPr lang="en-US" dirty="0"/>
              <a:t>8'b0101_1010 → 8‑bit binary</a:t>
            </a:r>
          </a:p>
          <a:p>
            <a:pPr lvl="1"/>
            <a:r>
              <a:rPr lang="en-US" dirty="0"/>
              <a:t>4'hF → 4‑bit hex (1111)</a:t>
            </a:r>
          </a:p>
          <a:p>
            <a:pPr lvl="1"/>
            <a:r>
              <a:rPr lang="en-US" dirty="0"/>
              <a:t>16'd8 → 16‑bit decimal 8</a:t>
            </a:r>
          </a:p>
          <a:p>
            <a:pPr lvl="1"/>
            <a:r>
              <a:rPr lang="en-US" dirty="0"/>
              <a:t>8'b0101 → 8‑bit binary 0101</a:t>
            </a:r>
          </a:p>
          <a:p>
            <a:pPr lvl="1"/>
            <a:r>
              <a:rPr lang="en-US" dirty="0"/>
              <a:t>-8'd5 → 5-bit two-complement decimal -5 (11111011)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21BD-B82D-5E89-4427-FDA76B83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15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C67A-C05D-15F6-3980-2E8E9AA6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43B09-1178-AF10-099A-DB610A84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075C0-4B3E-BE33-4AB6-F8447FB5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522168"/>
            <a:ext cx="9384201" cy="41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6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E6F1-2331-0299-8E98-5DD870E2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534A-711A-746A-CD87-2757287B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389F-9FFF-3620-5945-22D81516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B36F0-1A92-9048-28FB-FF669708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9935E60-DD1D-63B7-2279-C18443300053}"/>
              </a:ext>
            </a:extLst>
          </p:cNvPr>
          <p:cNvSpPr/>
          <p:nvPr/>
        </p:nvSpPr>
        <p:spPr>
          <a:xfrm>
            <a:off x="433915" y="14418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98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81A6-02E8-0F7A-09AA-4D0F925A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Occurs when a variable is assigned a value out of range</a:t>
                </a:r>
              </a:p>
              <a:p>
                <a:r>
                  <a:rPr lang="en-US" sz="2400" dirty="0"/>
                  <a:t>In above code we need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outside this range,  </a:t>
                </a:r>
                <a:r>
                  <a:rPr lang="en-US" sz="2400" dirty="0" err="1"/>
                  <a:t>SystemVerilog</a:t>
                </a:r>
                <a:r>
                  <a:rPr lang="en-US" sz="2400" dirty="0"/>
                  <a:t> will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truncate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Take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LSBs 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Sign extend if necessary</a:t>
                </a:r>
              </a:p>
              <a:p>
                <a:r>
                  <a:rPr lang="en-US" sz="2400" dirty="0"/>
                  <a:t>Equivalent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  <a:blipFill>
                <a:blip r:embed="rId2"/>
                <a:stretch>
                  <a:fillRect l="-1716" t="-2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92C3-884C-6E0E-8C8E-0C6DE6B1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F3D9D-445A-21DC-DA23-3D91D7F6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85913"/>
            <a:ext cx="5502668" cy="90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7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4C43-512B-4C5C-63C8-AE3E8FB2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D8939-5A04-9550-FA7F-641D3C71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1FC2E6-ECA4-0F5C-AB61-14FDF04E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60" y="1681588"/>
            <a:ext cx="9986396" cy="25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93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4CD6-3350-022F-FF46-630E679C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Binary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F162-74F3-850A-7489-65ECAF76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0A056-FBD9-91D0-2564-5C0426A4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1" y="2368760"/>
            <a:ext cx="1590188" cy="2630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EBC3E-9C71-32E7-4A0B-8C651D8B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534" y="1895261"/>
            <a:ext cx="9307547" cy="19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73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9DC1-6685-358F-978F-D64404D6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9712-F7C3-93A6-1979-549F4A9A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Modulo Arithmetic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FED11-31FE-4646-8FD1-A92D7D34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4700B-053B-8D72-3089-6CD47800F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0" y="2774559"/>
            <a:ext cx="1590188" cy="26306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B45A01-20BB-99D2-5684-79995F5A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77" y="1764216"/>
            <a:ext cx="9827129" cy="21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8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E20A-7AA5-4B83-6E3D-C147A53B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Truncation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This code works for </a:t>
                </a:r>
                <a:r>
                  <a:rPr lang="en-US" sz="2400" dirty="0" err="1"/>
                  <a:t>numpy</a:t>
                </a:r>
                <a:r>
                  <a:rPr lang="en-US" sz="2400" dirty="0"/>
                  <a:t> arrays</a:t>
                </a:r>
              </a:p>
              <a:p>
                <a:r>
                  <a:rPr lang="en-US" sz="2400" dirty="0"/>
                  <a:t>Mask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LSB</a:t>
                </a:r>
              </a:p>
              <a:p>
                <a:r>
                  <a:rPr lang="en-US" sz="2400" dirty="0"/>
                  <a:t>Then sign extend if necessary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  <a:blipFill>
                <a:blip r:embed="rId2"/>
                <a:stretch>
                  <a:fillRect l="-337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2A99B-6287-BEA4-025A-00903A32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E6554-D96E-EEF0-4459-77302E24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27" y="1996531"/>
            <a:ext cx="4940774" cy="23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0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32F4-ABA3-E09B-15B2-1380AAB8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Truncation results in values far different from original</a:t>
                </a:r>
              </a:p>
              <a:p>
                <a:pPr lvl="1"/>
                <a:r>
                  <a:rPr lang="en-US" sz="2200" dirty="0"/>
                  <a:t>Ex: Truncate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200" dirty="0"/>
                  <a:t> to 4 signed bits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⇒9−16=−7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400" dirty="0"/>
                  <a:t>Alternatively, can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  <a:r>
                  <a:rPr lang="en-US" sz="2200" dirty="0"/>
                  <a:t> </a:t>
                </a:r>
              </a:p>
              <a:p>
                <a:pPr lvl="1"/>
                <a:r>
                  <a:rPr lang="en-US" sz="2000" dirty="0"/>
                  <a:t>Clip to max or min values before assignment</a:t>
                </a:r>
              </a:p>
              <a:p>
                <a:pPr lvl="1"/>
                <a:r>
                  <a:rPr lang="en-US" sz="2000" dirty="0"/>
                  <a:t>Ex:  Truncate 9 to 7 </a:t>
                </a:r>
              </a:p>
              <a:p>
                <a:pPr lvl="1"/>
                <a:r>
                  <a:rPr lang="en-US" sz="2000" dirty="0"/>
                  <a:t>Provides less approximation error</a:t>
                </a:r>
              </a:p>
              <a:p>
                <a:pPr lvl="1"/>
                <a:r>
                  <a:rPr lang="en-US" sz="2000" dirty="0"/>
                  <a:t>But adds a bit of extra logic</a:t>
                </a:r>
              </a:p>
              <a:p>
                <a:r>
                  <a:rPr lang="en-US" sz="2200" dirty="0"/>
                  <a:t>Example to 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Want to assign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9979E-8156-6C7E-34D0-DFD56C92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C100A-5723-5A1E-811F-1A3DB203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3" y="2224205"/>
            <a:ext cx="5050773" cy="36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11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F064-ADD6-AB27-9E55-C9CE489A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Overflow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adding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both signed or both unsigned:</a:t>
                </a:r>
              </a:p>
              <a:p>
                <a:pPr lvl="1"/>
                <a:r>
                  <a:rPr lang="en-US" sz="2200" dirty="0"/>
                  <a:t>No overflow requires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0" dirty="0"/>
                  <a:t> bit width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b="0" dirty="0"/>
              </a:p>
              <a:p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b="0" dirty="0"/>
                  <a:t> is signed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b="0" dirty="0"/>
                  <a:t> is unsigned, </a:t>
                </a:r>
              </a:p>
              <a:p>
                <a:pPr lvl="1"/>
                <a:r>
                  <a:rPr lang="en-US" sz="2200" dirty="0"/>
                  <a:t>No overflow requires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Example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200" b="0" dirty="0"/>
                  <a:t> (4 bits signed),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200" b="0" dirty="0"/>
                  <a:t> (4 bits unsigned)</a:t>
                </a:r>
              </a:p>
              <a:p>
                <a:pPr lvl="1"/>
                <a:r>
                  <a:rPr lang="en-US" sz="2200" dirty="0"/>
                  <a:t>Sum is 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US" sz="2200" b="0" dirty="0"/>
                  <a:t> which needs 6 </a:t>
                </a:r>
                <a:r>
                  <a:rPr lang="en-US" sz="2200" dirty="0"/>
                  <a:t>bits signed.  </a:t>
                </a:r>
                <a:endParaRPr lang="en-US" sz="2200" b="0" dirty="0"/>
              </a:p>
              <a:p>
                <a:pPr marL="201168" lvl="1" indent="0">
                  <a:buNone/>
                </a:pPr>
                <a:endParaRPr lang="en-US" sz="2200" b="0" dirty="0"/>
              </a:p>
              <a:p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94160-AC9E-1B50-B6C7-D029D607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94AFD-E1A0-B7D0-A2CA-AD7F608D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15" y="1539277"/>
            <a:ext cx="4492581" cy="192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7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FD15-4F83-138E-B36C-90947C59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6D62-C1CC-B294-03EF-D935E986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E7E05-0C2B-AA95-6A66-1D32F46D2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41728"/>
            <a:ext cx="7459116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5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269C-07D3-A6D8-DAE1-D8EB0444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with Truncation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1823F-3F78-1EBE-8735-73573D44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potential overflow, SV will:</a:t>
            </a:r>
          </a:p>
          <a:p>
            <a:pPr lvl="1"/>
            <a:r>
              <a:rPr lang="en-US" dirty="0"/>
              <a:t>Create a temporary variable with no overflow</a:t>
            </a:r>
          </a:p>
          <a:p>
            <a:pPr lvl="1"/>
            <a:r>
              <a:rPr lang="en-US" dirty="0"/>
              <a:t>Temporary variable has enough bits</a:t>
            </a:r>
          </a:p>
          <a:p>
            <a:pPr lvl="1"/>
            <a:r>
              <a:rPr lang="en-US" dirty="0"/>
              <a:t>Then it will truncate to lower bits</a:t>
            </a:r>
          </a:p>
          <a:p>
            <a:r>
              <a:rPr lang="en-US" dirty="0"/>
              <a:t>Saturation must be implemented manually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4D59D-163E-CE80-2F3E-E65C4A43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D53694-8D7C-BC42-4C09-402CDD27A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785" y="1995184"/>
            <a:ext cx="5567429" cy="367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70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885A-6075-7B8B-9C2F-8EC60FD2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Overflow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832793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multiplying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may be signed or unsigned</a:t>
                </a:r>
              </a:p>
              <a:p>
                <a:r>
                  <a:rPr lang="en-US" sz="2400" dirty="0"/>
                  <a:t>To prevent overflow, we need: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r>
                  <a:rPr lang="en-US" sz="2400" dirty="0"/>
                  <a:t>With overflow:</a:t>
                </a:r>
              </a:p>
              <a:p>
                <a:pPr lvl="1"/>
                <a:r>
                  <a:rPr lang="en-US" sz="2200" dirty="0"/>
                  <a:t>SV implements truncation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832793" cy="4329817"/>
              </a:xfrm>
              <a:blipFill>
                <a:blip r:embed="rId2"/>
                <a:stretch>
                  <a:fillRect l="-3531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99F54-F659-F08F-05FC-64F0B5A6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96161-8863-4E53-08B5-37F8BF30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859" y="2375291"/>
            <a:ext cx="6076973" cy="23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39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AD62-EFD3-4A23-A243-4EE6CCB9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integer types: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= signed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unsigned</a:t>
                </a:r>
              </a:p>
              <a:p>
                <a:r>
                  <a:rPr lang="en-US" dirty="0"/>
                  <a:t>Each has finite range</a:t>
                </a:r>
              </a:p>
              <a:p>
                <a:r>
                  <a:rPr lang="en-US" dirty="0"/>
                  <a:t>Assignments outside that range result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overflow</a:t>
                </a:r>
              </a:p>
              <a:p>
                <a:r>
                  <a:rPr lang="en-US" dirty="0"/>
                  <a:t>In case of overflow, system Verilog performs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truncation</a:t>
                </a:r>
              </a:p>
              <a:p>
                <a:r>
                  <a:rPr lang="en-US" dirty="0"/>
                  <a:t>Optionally, you can add code to explicitly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</a:p>
              <a:p>
                <a:pPr lvl="1"/>
                <a:r>
                  <a:rPr lang="en-US" dirty="0"/>
                  <a:t>Offers better performance but adds additional logic</a:t>
                </a:r>
              </a:p>
              <a:p>
                <a:r>
                  <a:rPr lang="en-US" dirty="0"/>
                  <a:t>Arithmetic operations result in </a:t>
                </a: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bitwidth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growth</a:t>
                </a:r>
              </a:p>
              <a:p>
                <a:pPr lvl="1"/>
                <a:r>
                  <a:rPr lang="en-US" dirty="0"/>
                  <a:t>Addition of 2 numbers requires 1 extra bit</a:t>
                </a:r>
              </a:p>
              <a:p>
                <a:pPr lvl="1"/>
                <a:r>
                  <a:rPr lang="en-US" dirty="0"/>
                  <a:t>Multiplication of 2 numbers requires width = product of the two numbers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26AF-F136-B272-06EA-D9A44E20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4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B492-E9C9-93CF-B4F5-530CCE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F109-E434-41B5-9C69-A3F970FA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6680-03A2-F5B3-BA11-1314758B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E6366-4703-D2E9-9DFF-3779603F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7AB81CA-4360-0320-D565-DA0EFDD3FBCD}"/>
              </a:ext>
            </a:extLst>
          </p:cNvPr>
          <p:cNvSpPr/>
          <p:nvPr/>
        </p:nvSpPr>
        <p:spPr>
          <a:xfrm>
            <a:off x="452965" y="248479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89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A4F8-0CE0-6B61-EB16-7195E260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Bit Shift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33E44-6115-ED51-B54A-09835C7CD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Bit shift operators: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Right and left shift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Fills in with zeros</a:t>
                </a:r>
              </a:p>
              <a:p>
                <a:r>
                  <a:rPr lang="en-US" dirty="0"/>
                  <a:t>Bit widths always stay the same.</a:t>
                </a:r>
              </a:p>
              <a:p>
                <a:pPr lvl="1"/>
                <a:r>
                  <a:rPr lang="en-US" dirty="0"/>
                  <a:t>Hence, bits may be lost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0110)≫4=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0000 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0110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)≪3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33E44-6115-ED51-B54A-09835C7CD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D58DF-875B-CC3D-BBC5-97F44E3C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64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A3F2-4868-7784-13B8-F1DAFF4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Shift and Bit Widths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85A9-68B1-CEF0-67BE-2245FC5D0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884153" cy="4329817"/>
          </a:xfrm>
        </p:spPr>
        <p:txBody>
          <a:bodyPr/>
          <a:lstStyle/>
          <a:p>
            <a:r>
              <a:rPr lang="en-US" dirty="0"/>
              <a:t>Caution:</a:t>
            </a:r>
          </a:p>
          <a:p>
            <a:pPr lvl="1"/>
            <a:r>
              <a:rPr lang="en-US" dirty="0"/>
              <a:t>Logical bit shifts do not change width</a:t>
            </a:r>
          </a:p>
          <a:p>
            <a:pPr lvl="1"/>
            <a:r>
              <a:rPr lang="en-US" dirty="0"/>
              <a:t>Some bits may be discarded</a:t>
            </a:r>
          </a:p>
          <a:p>
            <a:r>
              <a:rPr lang="en-US" dirty="0"/>
              <a:t>To avoid discarding:</a:t>
            </a:r>
          </a:p>
          <a:p>
            <a:pPr lvl="1"/>
            <a:r>
              <a:rPr lang="en-US" dirty="0"/>
              <a:t>Widen first, then shift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88D3-98D2-72BD-EE4B-B036025B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4E606-23CC-759D-6009-B2264C32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883" y="1714396"/>
            <a:ext cx="5534797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0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FAD5-9E6E-6104-8490-E001D62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13232-E39B-313E-E7CE-5C128FB03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770654" cy="4329817"/>
              </a:xfrm>
            </p:spPr>
            <p:txBody>
              <a:bodyPr/>
              <a:lstStyle/>
              <a:p>
                <a:r>
                  <a:rPr lang="en-US" dirty="0"/>
                  <a:t>Logical Shift Changes Negative Values to Positive</a:t>
                </a:r>
              </a:p>
              <a:p>
                <a:pPr lvl="1"/>
                <a:r>
                  <a:rPr lang="en-US" dirty="0"/>
                  <a:t>Since leading MSBs are filled with zeros</a:t>
                </a:r>
              </a:p>
              <a:p>
                <a:pPr lvl="1"/>
                <a:r>
                  <a:rPr lang="en-US" dirty="0"/>
                  <a:t>Example: 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=−21 </m:t>
                    </m:r>
                  </m:oMath>
                </a14:m>
                <a:r>
                  <a:rPr lang="en-US" dirty="0"/>
                  <a:t>as an 8-bit signed number </a:t>
                </a:r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0011,1011</m:t>
                            </m:r>
                          </m:e>
                        </m:d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Arithmetic shift </a:t>
                </a:r>
              </a:p>
              <a:p>
                <a:pPr lvl="1"/>
                <a:r>
                  <a:rPr lang="en-US" dirty="0"/>
                  <a:t>Fills in leading MSBs with sign bit</a:t>
                </a:r>
              </a:p>
              <a:p>
                <a:pPr lvl="1"/>
                <a:r>
                  <a:rPr lang="en-US" dirty="0"/>
                  <a:t>Written in SV with &gt;&gt;&gt; </a:t>
                </a:r>
              </a:p>
              <a:p>
                <a:pPr lvl="1"/>
                <a:r>
                  <a:rPr lang="en-US" dirty="0"/>
                  <a:t>Ex: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&gt;&gt;&gt;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1111,1011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13232-E39B-313E-E7CE-5C128FB03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770654" cy="4329817"/>
              </a:xfrm>
              <a:blipFill>
                <a:blip r:embed="rId2"/>
                <a:stretch>
                  <a:fillRect l="-216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EA1CB-CE70-5E77-324A-E9F3B61A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90BCE4-7FF0-A644-25AA-00545980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30" y="2750360"/>
            <a:ext cx="530616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43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3754-B5AF-B26A-D7A8-5DFFA807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vs. SV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4854CD4-8373-338E-1D12-C1D0B13334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3370857"/>
                  </p:ext>
                </p:extLst>
              </p:nvPr>
            </p:nvGraphicFramePr>
            <p:xfrm>
              <a:off x="1096963" y="1539875"/>
              <a:ext cx="10058397" cy="2565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5237126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4100662212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181198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System Verilog syntax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Python 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056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Left shift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(Logical or arithmetic)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23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Arithmetic right shift </a:t>
                          </a:r>
                          <a:br>
                            <a:rPr lang="en-US" dirty="0"/>
                          </a:b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8338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Logical right shift</a:t>
                          </a:r>
                          <a:br>
                            <a:rPr lang="en-US" dirty="0"/>
                          </a:b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dirty="0"/>
                            <a:t> = number of</a:t>
                          </a:r>
                          <a:r>
                            <a:rPr lang="en-US" baseline="0" dirty="0"/>
                            <a:t> bits in destination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8474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4854CD4-8373-338E-1D12-C1D0B13334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3370857"/>
                  </p:ext>
                </p:extLst>
              </p:nvPr>
            </p:nvGraphicFramePr>
            <p:xfrm>
              <a:off x="1096963" y="1539875"/>
              <a:ext cx="10058397" cy="2565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5237126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4100662212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181198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System Verilog syntax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Python 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0567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Left shift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(Logical or arithmetic)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2310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Arithmetic right shift </a:t>
                          </a:r>
                          <a:br>
                            <a:rPr lang="en-US" dirty="0"/>
                          </a:b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83385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2" t="-184667" r="-201091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8474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9A6E9-9DF0-3461-0EA5-32D9F21B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6AD1B-E829-F138-B090-B079CF4E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765" y="1972292"/>
            <a:ext cx="857370" cy="247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CE0A0-8A94-4AC1-9E5C-75267F764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562" y="1972292"/>
            <a:ext cx="857370" cy="247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0D41D8-1E60-588B-847A-E4F0DE224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44" y="2750378"/>
            <a:ext cx="828791" cy="2762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645675-A0AD-9073-328A-C5649D40D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68" y="2646044"/>
            <a:ext cx="819264" cy="247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FCF51-8012-A2F8-E847-957473A6D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818" y="3337791"/>
            <a:ext cx="819264" cy="247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2B8725-3660-E190-7FF5-22FE02B9B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68" y="3262289"/>
            <a:ext cx="2333951" cy="333422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6E0290E-F7BD-295C-51C0-220E298B0480}"/>
              </a:ext>
            </a:extLst>
          </p:cNvPr>
          <p:cNvSpPr txBox="1">
            <a:spLocks/>
          </p:cNvSpPr>
          <p:nvPr/>
        </p:nvSpPr>
        <p:spPr>
          <a:xfrm>
            <a:off x="1097280" y="4416424"/>
            <a:ext cx="9697720" cy="14526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Note:  All shifts in python are arithmetic</a:t>
            </a:r>
          </a:p>
          <a:p>
            <a:r>
              <a:rPr lang="en-US" dirty="0"/>
              <a:t>To emulate logical right shift need a mask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04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A9A8-B4EA-6F9C-7E98-C9C63584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 and Powers of Two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20AD4-B2EB-C86B-496B-B7BA884B9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Arithmetic shifts approximate multiplication by powers of two</a:t>
                </a:r>
              </a:p>
              <a:p>
                <a:r>
                  <a:rPr lang="en-US" dirty="0"/>
                  <a:t>Left shift: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Assuming the MSBs are not discarded</a:t>
                </a:r>
              </a:p>
              <a:p>
                <a:pPr lvl="1"/>
                <a:r>
                  <a:rPr lang="en-US" dirty="0"/>
                  <a:t>Or the value is extended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 prior to left shift</a:t>
                </a:r>
              </a:p>
              <a:p>
                <a:r>
                  <a:rPr lang="en-US" dirty="0"/>
                  <a:t>Right shift: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&gt;&gt;&gt;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Only approximate since the LSBs will be discarded</a:t>
                </a:r>
              </a:p>
              <a:p>
                <a:pPr lvl="1"/>
                <a:r>
                  <a:rPr lang="en-US" dirty="0"/>
                  <a:t>So, there is a loss in precision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20AD4-B2EB-C86B-496B-B7BA884B9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567BB-06EF-5DDB-37A8-2496C043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02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577E-F5BB-0351-43C0-6FF88BC3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8AAF-03D1-0DB8-6591-F60ABD9C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EB4E7-6FD2-86AE-49C2-4A17D6B7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18654"/>
            <a:ext cx="9643508" cy="295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97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EDC-B0B5-00DF-7F30-14D1111D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528CE-4D5F-75B3-CDE3-80BE84F8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74A3A-2934-C8FD-CFC8-EBE955D9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00" y="1698010"/>
            <a:ext cx="5466095" cy="3733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E38142-5D65-2F1A-727A-2C6D50E64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946" y="2171488"/>
            <a:ext cx="432495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65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5A1C-E369-D89B-3069-175D0405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92FF-B9F5-BFA5-BB47-9925F2C6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CABC2-1711-49FF-1707-5B603783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16063-D120-2E0C-CC3E-EC5559CC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1FCFC3-C12F-2B73-EDBF-F31CBC385847}"/>
              </a:ext>
            </a:extLst>
          </p:cNvPr>
          <p:cNvSpPr/>
          <p:nvPr/>
        </p:nvSpPr>
        <p:spPr>
          <a:xfrm>
            <a:off x="438677" y="2984859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992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5B7E-6856-0BF2-EA18-692A7ADD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and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574DB-F924-E46C-17D0-88C9E0B2A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  <a:r>
              <a:rPr lang="en-US" sz="2400" dirty="0"/>
              <a:t>: A named circuit block with some inputs and outputs</a:t>
            </a:r>
          </a:p>
          <a:p>
            <a:pPr lvl="1"/>
            <a:r>
              <a:rPr lang="en-US" sz="2000" dirty="0"/>
              <a:t>Fully self-contained</a:t>
            </a:r>
          </a:p>
          <a:p>
            <a:pPr lvl="1"/>
            <a:r>
              <a:rPr lang="en-US" sz="2000" dirty="0"/>
              <a:t>Takes some input signals and produces some outputs</a:t>
            </a:r>
          </a:p>
          <a:p>
            <a:pPr lvl="1"/>
            <a:r>
              <a:rPr lang="en-US" sz="2000" dirty="0"/>
              <a:t>May have sub-modules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r>
              <a:rPr lang="en-US" sz="2400" dirty="0"/>
              <a:t>:  Outputs depend only on current inputs</a:t>
            </a:r>
          </a:p>
          <a:p>
            <a:pPr lvl="1"/>
            <a:r>
              <a:rPr lang="en-US" sz="2000" dirty="0"/>
              <a:t>No memory</a:t>
            </a:r>
          </a:p>
          <a:p>
            <a:pPr lvl="1"/>
            <a:r>
              <a:rPr lang="en-US" sz="2000" dirty="0"/>
              <a:t>No storage</a:t>
            </a:r>
          </a:p>
          <a:p>
            <a:pPr lvl="1"/>
            <a:r>
              <a:rPr lang="en-US" sz="2000" dirty="0"/>
              <a:t>We will contrast this type of module with sequential logic in the next unit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A339-6AD7-1A31-9B78-6379BE7E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33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</a:t>
                </a:r>
                <a:r>
                  <a:rPr lang="en-US" sz="2400" dirty="0"/>
                  <a:t>:  Implement a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combinational logic module </a:t>
                </a:r>
                <a:r>
                  <a:rPr lang="en-US" sz="2400" dirty="0"/>
                  <a:t>for the function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endParaRPr lang="en-US" sz="2400" dirty="0"/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79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BE07-C2AC-5C81-2EDC-B0E0254C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53BA-A695-433E-9E77-354D19D91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Each block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pPr lvl="1"/>
            <a:r>
              <a:rPr lang="en-US" sz="2000" dirty="0"/>
              <a:t>Has inputs and outputs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endParaRPr lang="en-US" dirty="0"/>
          </a:p>
          <a:p>
            <a:r>
              <a:rPr lang="en-US" dirty="0"/>
              <a:t>Description is behavioral only</a:t>
            </a:r>
          </a:p>
          <a:p>
            <a:pPr lvl="1"/>
            <a:r>
              <a:rPr lang="en-US" sz="2000" dirty="0"/>
              <a:t>Does not say how it will be implemented</a:t>
            </a:r>
          </a:p>
          <a:p>
            <a:pPr lvl="1"/>
            <a:r>
              <a:rPr lang="en-US" sz="2000" dirty="0"/>
              <a:t>We discuss that later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4595-A4AA-901B-7B0B-A65349D8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82BF0-FDB7-2E1E-B0BF-D180FA52E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26" y="1614292"/>
            <a:ext cx="5810386" cy="37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92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A406-C087-AB7C-47F9-FED63439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301ED-9208-D7AA-D795-350EBF39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70" y="1846785"/>
            <a:ext cx="5459585" cy="35547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C2159-E556-D33C-8A01-715E074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Components in 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1CA8-D911-EA40-0FF4-939AE9B1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630" y="1846785"/>
            <a:ext cx="4998720" cy="362628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Module name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Ports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Defines inputs and outputs</a:t>
            </a:r>
          </a:p>
          <a:p>
            <a:pPr lvl="1"/>
            <a:r>
              <a:rPr lang="en-US" sz="2000" dirty="0"/>
              <a:t>Each has a type (more detail later)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Behavioral description</a:t>
            </a:r>
          </a:p>
          <a:p>
            <a:pPr lvl="1"/>
            <a:r>
              <a:rPr lang="en-US" sz="2000" dirty="0"/>
              <a:t>In this case, a </a:t>
            </a:r>
            <a:r>
              <a:rPr lang="en-US" sz="2000" dirty="0">
                <a:solidFill>
                  <a:schemeClr val="accent1"/>
                </a:solidFill>
              </a:rPr>
              <a:t>combinational block</a:t>
            </a:r>
          </a:p>
          <a:p>
            <a:pPr lvl="1"/>
            <a:r>
              <a:rPr lang="en-US" sz="2000" dirty="0"/>
              <a:t>Sequence of operations </a:t>
            </a:r>
          </a:p>
          <a:p>
            <a:pPr lvl="1"/>
            <a:r>
              <a:rPr lang="en-US" sz="2000" dirty="0"/>
              <a:t>From input to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5E58-6885-B715-15DD-C341EFBA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68288-6B4D-8BAE-83B3-B324FD6066C3}"/>
              </a:ext>
            </a:extLst>
          </p:cNvPr>
          <p:cNvCxnSpPr>
            <a:cxnSpLocks/>
          </p:cNvCxnSpPr>
          <p:nvPr/>
        </p:nvCxnSpPr>
        <p:spPr>
          <a:xfrm flipH="1">
            <a:off x="4519613" y="2709863"/>
            <a:ext cx="177509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4FEB2-86CF-D95C-922C-7DB2B6F95159}"/>
              </a:ext>
            </a:extLst>
          </p:cNvPr>
          <p:cNvCxnSpPr>
            <a:cxnSpLocks/>
          </p:cNvCxnSpPr>
          <p:nvPr/>
        </p:nvCxnSpPr>
        <p:spPr>
          <a:xfrm flipH="1">
            <a:off x="5627371" y="4443413"/>
            <a:ext cx="78127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3C4718-A8C2-673E-C4C5-A5E50B89D2D9}"/>
              </a:ext>
            </a:extLst>
          </p:cNvPr>
          <p:cNvCxnSpPr>
            <a:cxnSpLocks/>
          </p:cNvCxnSpPr>
          <p:nvPr/>
        </p:nvCxnSpPr>
        <p:spPr>
          <a:xfrm flipH="1">
            <a:off x="3443288" y="2000552"/>
            <a:ext cx="304844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784-9A01-55DB-D193-0DE0BF6F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04E1-70CB-65A5-6FD8-98DF333F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of a module typically represented by a </a:t>
            </a:r>
            <a:r>
              <a:rPr lang="en-US" dirty="0">
                <a:solidFill>
                  <a:schemeClr val="accent1"/>
                </a:solidFill>
              </a:rPr>
              <a:t>block diagram</a:t>
            </a:r>
          </a:p>
          <a:p>
            <a:r>
              <a:rPr lang="en-US" dirty="0"/>
              <a:t>Graphical representation of a potential implementation</a:t>
            </a:r>
          </a:p>
          <a:p>
            <a:r>
              <a:rPr lang="en-US" dirty="0"/>
              <a:t>Typically, diagram is at high-level</a:t>
            </a:r>
          </a:p>
          <a:p>
            <a:pPr lvl="1"/>
            <a:r>
              <a:rPr lang="en-US" dirty="0"/>
              <a:t>Adders, multipliers not low-level details components like gates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CB96-3F47-24B5-9142-7743E60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233B5-D650-2A86-938A-F2909D3D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083" y="3166235"/>
            <a:ext cx="7724119" cy="2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86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CD21-C689-80B5-BD21-7FAAE0CE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670FF-8BB3-2721-D0E3-8E54B7B0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558352"/>
            <a:ext cx="10058400" cy="1310742"/>
          </a:xfrm>
        </p:spPr>
        <p:txBody>
          <a:bodyPr/>
          <a:lstStyle/>
          <a:p>
            <a:r>
              <a:rPr lang="en-US" dirty="0"/>
              <a:t>Assigned as homework</a:t>
            </a:r>
          </a:p>
          <a:p>
            <a:r>
              <a:rPr lang="en-US" dirty="0"/>
              <a:t>Note there is a conservative and more precise bit width analysis</a:t>
            </a:r>
          </a:p>
          <a:p>
            <a:pPr lvl="1"/>
            <a:r>
              <a:rPr lang="en-US" dirty="0"/>
              <a:t>Both will receive full credit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925C-17F8-D7D1-7542-0B24A1F5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AC0BB-24F9-2B73-060E-B39AA7EF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26" y="1488606"/>
            <a:ext cx="775443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370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17131</TotalTime>
  <Words>1662</Words>
  <Application>Microsoft Office PowerPoint</Application>
  <PresentationFormat>Widescreen</PresentationFormat>
  <Paragraphs>318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 Math</vt:lpstr>
      <vt:lpstr>Wingdings</vt:lpstr>
      <vt:lpstr>Retrospect</vt:lpstr>
      <vt:lpstr>Unit 1  Data Types and Combinational Logic</vt:lpstr>
      <vt:lpstr>Learning Objectives</vt:lpstr>
      <vt:lpstr>Outline</vt:lpstr>
      <vt:lpstr>Hardware Description Language</vt:lpstr>
      <vt:lpstr>System Verilog vs Verilog</vt:lpstr>
      <vt:lpstr>Logic and Logic Vectors</vt:lpstr>
      <vt:lpstr>Bitwise Operations</vt:lpstr>
      <vt:lpstr>Example Problem</vt:lpstr>
      <vt:lpstr>Solution</vt:lpstr>
      <vt:lpstr>Integers</vt:lpstr>
      <vt:lpstr>Two Complement</vt:lpstr>
      <vt:lpstr>Example Problem</vt:lpstr>
      <vt:lpstr>Two’s Complement = Modulo Arithmetic</vt:lpstr>
      <vt:lpstr>System Verilog Literals and Constants</vt:lpstr>
      <vt:lpstr>Example Problem</vt:lpstr>
      <vt:lpstr>Outline</vt:lpstr>
      <vt:lpstr>Truncation</vt:lpstr>
      <vt:lpstr>Sample Problem</vt:lpstr>
      <vt:lpstr>Solution using Binary Representations</vt:lpstr>
      <vt:lpstr>Solution using Modulo Arithmetic</vt:lpstr>
      <vt:lpstr>Simulating Truncation in Python</vt:lpstr>
      <vt:lpstr>Saturation</vt:lpstr>
      <vt:lpstr>Addition Overflow Rules</vt:lpstr>
      <vt:lpstr>Sample Problem</vt:lpstr>
      <vt:lpstr>Addition with Truncation</vt:lpstr>
      <vt:lpstr>Multiplication Overflow </vt:lpstr>
      <vt:lpstr>Summary</vt:lpstr>
      <vt:lpstr>Outline</vt:lpstr>
      <vt:lpstr>Logical Bit Shift</vt:lpstr>
      <vt:lpstr>Logical Shift and Bit Widths</vt:lpstr>
      <vt:lpstr>Arithmetic Shift</vt:lpstr>
      <vt:lpstr>Python vs. SV</vt:lpstr>
      <vt:lpstr>Arithmetic Shift and Powers of Two</vt:lpstr>
      <vt:lpstr>Example Problem</vt:lpstr>
      <vt:lpstr>Solution</vt:lpstr>
      <vt:lpstr>Outline</vt:lpstr>
      <vt:lpstr>Module and Combinational Logic</vt:lpstr>
      <vt:lpstr>Simple Example:  ReLU + Linear</vt:lpstr>
      <vt:lpstr>SystemVerilog Description</vt:lpstr>
      <vt:lpstr>Module Components in SV</vt:lpstr>
      <vt:lpstr>Block Diagram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665</cp:revision>
  <cp:lastPrinted>2018-09-04T19:00:14Z</cp:lastPrinted>
  <dcterms:created xsi:type="dcterms:W3CDTF">2015-03-22T11:15:32Z</dcterms:created>
  <dcterms:modified xsi:type="dcterms:W3CDTF">2026-01-31T04:41:50Z</dcterms:modified>
</cp:coreProperties>
</file>