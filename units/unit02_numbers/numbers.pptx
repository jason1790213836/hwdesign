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9"/>
  </p:notesMasterIdLst>
  <p:sldIdLst>
    <p:sldId id="258" r:id="rId2"/>
    <p:sldId id="271" r:id="rId3"/>
    <p:sldId id="297" r:id="rId4"/>
    <p:sldId id="299" r:id="rId5"/>
    <p:sldId id="331" r:id="rId6"/>
    <p:sldId id="333" r:id="rId7"/>
    <p:sldId id="334" r:id="rId8"/>
    <p:sldId id="335" r:id="rId9"/>
    <p:sldId id="330" r:id="rId10"/>
    <p:sldId id="336" r:id="rId11"/>
    <p:sldId id="327" r:id="rId12"/>
    <p:sldId id="329" r:id="rId13"/>
    <p:sldId id="337" r:id="rId14"/>
    <p:sldId id="332" r:id="rId15"/>
    <p:sldId id="340" r:id="rId16"/>
    <p:sldId id="338" r:id="rId17"/>
    <p:sldId id="298" r:id="rId18"/>
    <p:sldId id="301" r:id="rId19"/>
    <p:sldId id="303" r:id="rId20"/>
    <p:sldId id="341" r:id="rId21"/>
    <p:sldId id="342" r:id="rId22"/>
    <p:sldId id="323" r:id="rId23"/>
    <p:sldId id="305" r:id="rId24"/>
    <p:sldId id="306" r:id="rId25"/>
    <p:sldId id="304" r:id="rId26"/>
    <p:sldId id="307" r:id="rId27"/>
    <p:sldId id="308" r:id="rId28"/>
    <p:sldId id="309" r:id="rId29"/>
    <p:sldId id="311" r:id="rId30"/>
    <p:sldId id="313" r:id="rId31"/>
    <p:sldId id="310" r:id="rId32"/>
    <p:sldId id="314" r:id="rId33"/>
    <p:sldId id="315" r:id="rId34"/>
    <p:sldId id="339" r:id="rId35"/>
    <p:sldId id="317" r:id="rId36"/>
    <p:sldId id="318" r:id="rId37"/>
    <p:sldId id="316" r:id="rId38"/>
    <p:sldId id="319" r:id="rId39"/>
    <p:sldId id="320" r:id="rId40"/>
    <p:sldId id="322" r:id="rId41"/>
    <p:sldId id="343" r:id="rId42"/>
    <p:sldId id="344" r:id="rId43"/>
    <p:sldId id="326" r:id="rId44"/>
    <p:sldId id="321" r:id="rId45"/>
    <p:sldId id="345" r:id="rId46"/>
    <p:sldId id="347" r:id="rId47"/>
    <p:sldId id="346" r:id="rId48"/>
  </p:sldIdLst>
  <p:sldSz cx="12192000" cy="6858000"/>
  <p:notesSz cx="7315200" cy="96012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FFCC"/>
    <a:srgbClr val="CCFF99"/>
    <a:srgbClr val="92278F"/>
    <a:srgbClr val="E3DFF7"/>
    <a:srgbClr val="EAE5EB"/>
    <a:srgbClr val="DEE6F8"/>
    <a:srgbClr val="E0F8E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157" autoAdjust="0"/>
    <p:restoredTop sz="94660"/>
  </p:normalViewPr>
  <p:slideViewPr>
    <p:cSldViewPr snapToGrid="0">
      <p:cViewPr varScale="1">
        <p:scale>
          <a:sx n="67" d="100"/>
          <a:sy n="67" d="100"/>
        </p:scale>
        <p:origin x="604" y="25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7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B7D6DDD3-D7E9-488B-B626-1E8285E424D8}" type="datetimeFigureOut">
              <a:rPr lang="en-US" smtClean="0"/>
              <a:t>1/25/2026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77875" y="1200150"/>
            <a:ext cx="5759450" cy="32400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61" tIns="48331" rIns="96661" bIns="48331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4620577"/>
            <a:ext cx="5852160" cy="3780473"/>
          </a:xfrm>
          <a:prstGeom prst="rect">
            <a:avLst/>
          </a:prstGeom>
        </p:spPr>
        <p:txBody>
          <a:bodyPr vert="horz" lIns="96661" tIns="48331" rIns="96661" bIns="48331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7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65CF6084-2C3C-4FE7-B181-D16A342905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54252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 userDrawn="1"/>
        </p:nvSpPr>
        <p:spPr>
          <a:xfrm>
            <a:off x="0" y="6171231"/>
            <a:ext cx="12192000" cy="697337"/>
          </a:xfrm>
          <a:prstGeom prst="rect">
            <a:avLst/>
          </a:prstGeom>
          <a:solidFill>
            <a:srgbClr val="570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/>
          </a:p>
        </p:txBody>
      </p:sp>
      <p:sp>
        <p:nvSpPr>
          <p:cNvPr id="17" name="Rectangle 16"/>
          <p:cNvSpPr/>
          <p:nvPr userDrawn="1"/>
        </p:nvSpPr>
        <p:spPr>
          <a:xfrm>
            <a:off x="15" y="6094179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164" y="6292310"/>
            <a:ext cx="2113225" cy="334949"/>
          </a:xfrm>
          <a:prstGeom prst="rect">
            <a:avLst/>
          </a:prstGeom>
        </p:spPr>
      </p:pic>
      <p:pic>
        <p:nvPicPr>
          <p:cNvPr id="15" name="Picture 14" descr="final-logo-3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1914" y="6270691"/>
            <a:ext cx="1117381" cy="817404"/>
          </a:xfrm>
          <a:prstGeom prst="rect">
            <a:avLst/>
          </a:prstGeom>
        </p:spPr>
      </p:pic>
      <p:sp>
        <p:nvSpPr>
          <p:cNvPr id="12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46794" y="6314268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 marL="91440" indent="-91440">
              <a:buSzPct val="100000"/>
              <a:buFont typeface="Wingdings" panose="05000000000000000000" pitchFamily="2" charset="2"/>
              <a:buChar char="q"/>
              <a:defRPr/>
            </a:lvl1pPr>
          </a:lstStyle>
          <a:p>
            <a:pPr lvl="0"/>
            <a:r>
              <a:rPr lang="en-US" dirty="0"/>
              <a:t> 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 userDrawn="1"/>
        </p:nvSpPr>
        <p:spPr>
          <a:xfrm>
            <a:off x="0" y="6339080"/>
            <a:ext cx="12192000" cy="518920"/>
          </a:xfrm>
          <a:prstGeom prst="rect">
            <a:avLst/>
          </a:prstGeom>
          <a:solidFill>
            <a:srgbClr val="570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 dirty="0"/>
          </a:p>
        </p:txBody>
      </p:sp>
      <p:sp>
        <p:nvSpPr>
          <p:cNvPr id="11" name="Rectangle 10"/>
          <p:cNvSpPr/>
          <p:nvPr userDrawn="1"/>
        </p:nvSpPr>
        <p:spPr>
          <a:xfrm>
            <a:off x="15" y="627259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7" name="Picture 16" descr="final-logo-3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1914" y="6379551"/>
            <a:ext cx="1117381" cy="817404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045" y="6405564"/>
            <a:ext cx="2113225" cy="334949"/>
          </a:xfrm>
          <a:prstGeom prst="rect">
            <a:avLst/>
          </a:prstGeom>
        </p:spPr>
      </p:pic>
      <p:sp>
        <p:nvSpPr>
          <p:cNvPr id="12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46794" y="6314268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05451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8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4"/>
            <a:ext cx="10058400" cy="1060198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477911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214193"/>
            <a:ext cx="4937760" cy="33782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477911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214193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 userDrawn="1"/>
        </p:nvSpPr>
        <p:spPr>
          <a:xfrm>
            <a:off x="0" y="6339080"/>
            <a:ext cx="12192000" cy="518920"/>
          </a:xfrm>
          <a:prstGeom prst="rect">
            <a:avLst/>
          </a:prstGeom>
          <a:solidFill>
            <a:srgbClr val="570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/>
          </a:p>
        </p:txBody>
      </p:sp>
      <p:sp>
        <p:nvSpPr>
          <p:cNvPr id="11" name="Rectangle 10"/>
          <p:cNvSpPr/>
          <p:nvPr userDrawn="1"/>
        </p:nvSpPr>
        <p:spPr>
          <a:xfrm>
            <a:off x="15" y="627259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832682" y="6508672"/>
            <a:ext cx="984019" cy="273844"/>
          </a:xfrm>
          <a:prstGeom prst="rect">
            <a:avLst/>
          </a:prstGeom>
        </p:spPr>
        <p:txBody>
          <a:bodyPr vert="horz" lIns="68567" tIns="34289" rIns="68567" bIns="34289" rtlCol="0" anchor="ctr"/>
          <a:lstStyle>
            <a:lvl1pPr algn="r">
              <a:defRPr sz="800"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507" y="6405564"/>
            <a:ext cx="2113225" cy="334949"/>
          </a:xfrm>
          <a:prstGeom prst="rect">
            <a:avLst/>
          </a:prstGeom>
        </p:spPr>
      </p:pic>
      <p:pic>
        <p:nvPicPr>
          <p:cNvPr id="16" name="Picture 15" descr="final-logo-3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42543" y="6446621"/>
            <a:ext cx="923615" cy="675657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  <a:prstGeom prst="rect">
            <a:avLst/>
          </a:prstGeom>
        </p:spPr>
        <p:txBody>
          <a:bodyPr/>
          <a:lstStyle>
            <a:lvl1pPr algn="l">
              <a:defRPr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emf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 userDrawn="1"/>
        </p:nvSpPr>
        <p:spPr>
          <a:xfrm>
            <a:off x="0" y="6160663"/>
            <a:ext cx="12192000" cy="697337"/>
          </a:xfrm>
          <a:prstGeom prst="rect">
            <a:avLst/>
          </a:prstGeom>
          <a:solidFill>
            <a:srgbClr val="570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 dirty="0"/>
          </a:p>
        </p:txBody>
      </p:sp>
      <p:sp>
        <p:nvSpPr>
          <p:cNvPr id="9" name="Rectangle 8"/>
          <p:cNvSpPr/>
          <p:nvPr/>
        </p:nvSpPr>
        <p:spPr>
          <a:xfrm>
            <a:off x="15" y="6094179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04021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539277"/>
            <a:ext cx="10058400" cy="4329817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46794" y="6314268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1097280" y="14330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307" y="6307398"/>
            <a:ext cx="2113225" cy="334949"/>
          </a:xfrm>
          <a:prstGeom prst="rect">
            <a:avLst/>
          </a:prstGeom>
        </p:spPr>
      </p:pic>
      <p:pic>
        <p:nvPicPr>
          <p:cNvPr id="15" name="Picture 14" descr="final-logo-3.eps"/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1914" y="6270691"/>
            <a:ext cx="1117381" cy="817404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0.png"/><Relationship Id="rId5" Type="http://schemas.openxmlformats.org/officeDocument/2006/relationships/image" Target="../media/image100.png"/><Relationship Id="rId4" Type="http://schemas.openxmlformats.org/officeDocument/2006/relationships/image" Target="../media/image9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0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0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0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0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0.png"/><Relationship Id="rId2" Type="http://schemas.openxmlformats.org/officeDocument/2006/relationships/image" Target="../media/image250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0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0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png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6600" dirty="0"/>
              <a:t>Unit 2 </a:t>
            </a:r>
            <a:br>
              <a:rPr lang="en-US" sz="6600" dirty="0"/>
            </a:br>
            <a:r>
              <a:rPr lang="en-US" sz="6600" dirty="0"/>
              <a:t>Floating and Fixed Point Numbers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EL-GY 9463:  Introduction to Hardware Design</a:t>
            </a:r>
          </a:p>
          <a:p>
            <a:r>
              <a:rPr lang="en-US"/>
              <a:t>ProfS. Sundeep Rangan, Siddharth Garg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42935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Learning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Describe the basic components of random access memory</a:t>
            </a:r>
          </a:p>
          <a:p>
            <a:pPr lvl="1"/>
            <a:r>
              <a:rPr lang="en-US" dirty="0"/>
              <a:t>Address and data bus, address decoder, storage</a:t>
            </a:r>
          </a:p>
          <a:p>
            <a:r>
              <a:rPr lang="en-US" dirty="0"/>
              <a:t>Identify which types of memory should be used for storage</a:t>
            </a:r>
          </a:p>
          <a:p>
            <a:pPr lvl="1"/>
            <a:r>
              <a:rPr lang="en-US" dirty="0"/>
              <a:t>External vs. internal</a:t>
            </a:r>
          </a:p>
          <a:p>
            <a:pPr lvl="1"/>
            <a:r>
              <a:rPr lang="en-US" dirty="0"/>
              <a:t>Registers vs. block memory</a:t>
            </a:r>
          </a:p>
          <a:p>
            <a:r>
              <a:rPr lang="en-US" dirty="0"/>
              <a:t>Describe and analyze timing for the AXI4-Lite protocol for reading and writing registers</a:t>
            </a:r>
          </a:p>
          <a:p>
            <a:r>
              <a:rPr lang="en-US" dirty="0"/>
              <a:t>Implement a simple IP with AXI4-Lite control registers using Vitis HLS</a:t>
            </a:r>
          </a:p>
          <a:p>
            <a:r>
              <a:rPr lang="en-US" dirty="0"/>
              <a:t>Synthesize and simulate the IP and analyze the timing diagrams</a:t>
            </a:r>
          </a:p>
          <a:p>
            <a:r>
              <a:rPr lang="en-US" dirty="0"/>
              <a:t>Deploy the IP on an FPGA board and interface with the IP via PYNQ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85531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EFFF6B-8453-395D-C9DF-D39D49D3FF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AA98C3-C147-9B33-689D-5A5D264C65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28E2E2-EBC5-C8DE-A7D7-0B0A405420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Integers, Truncation, and Overflows</a:t>
            </a:r>
          </a:p>
          <a:p>
            <a:r>
              <a:rPr lang="en-US" sz="2400" dirty="0"/>
              <a:t>Floating Point Numbers</a:t>
            </a:r>
          </a:p>
          <a:p>
            <a:r>
              <a:rPr lang="en-US" sz="2400" dirty="0"/>
              <a:t>Fixed Point Numbers</a:t>
            </a:r>
          </a:p>
          <a:p>
            <a:r>
              <a:rPr lang="en-US" sz="2400" dirty="0"/>
              <a:t>Optimal Scaling of </a:t>
            </a:r>
            <a:r>
              <a:rPr lang="en-US" sz="2400" dirty="0" err="1"/>
              <a:t>FixP</a:t>
            </a:r>
            <a:r>
              <a:rPr lang="en-US" sz="2400" dirty="0"/>
              <a:t> Numbers</a:t>
            </a:r>
          </a:p>
          <a:p>
            <a:r>
              <a:rPr lang="en-US" sz="2400" dirty="0"/>
              <a:t>Converting Floating Point Algorithms to Fixed Point</a:t>
            </a:r>
          </a:p>
          <a:p>
            <a:endParaRPr lang="en-US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D21FED-E321-4749-8167-3B80892DB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3</a:t>
            </a:fld>
            <a:endParaRPr lang="en-US" dirty="0"/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E9FC670A-2850-C4F8-F818-E68FBC3C0972}"/>
              </a:ext>
            </a:extLst>
          </p:cNvPr>
          <p:cNvSpPr/>
          <p:nvPr/>
        </p:nvSpPr>
        <p:spPr>
          <a:xfrm>
            <a:off x="411472" y="1475738"/>
            <a:ext cx="938784" cy="484632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18098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BCDB80-7EB4-7CB0-ECA1-38641A28AA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Integers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FB7205D-CAD9-1A0C-E30D-F9209318821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sz="2400" dirty="0"/>
                  <a:t>We will use notation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200" dirty="0"/>
                  <a:t>:  Signed integer with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sz="2200" dirty="0"/>
                  <a:t> bits in two complement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𝑈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200" dirty="0"/>
                  <a:t>:  Unsigned integer with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sz="2200" dirty="0"/>
                  <a:t> bits</a:t>
                </a:r>
              </a:p>
              <a:p>
                <a:r>
                  <a:rPr lang="en-US" sz="2400" dirty="0"/>
                  <a:t>Range: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𝐼</m:t>
                    </m:r>
                    <m:d>
                      <m:d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⇒  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</m:e>
                    </m:d>
                  </m:oMath>
                </a14:m>
                <a:endParaRPr lang="en-US" sz="2200" b="0" dirty="0"/>
              </a:p>
              <a:p>
                <a:pPr lvl="1"/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𝑈</m:t>
                    </m:r>
                    <m:d>
                      <m:d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⇒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∈[</m:t>
                    </m:r>
                    <m:sSup>
                      <m:sSup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0,2</m:t>
                        </m:r>
                      </m:e>
                      <m:sup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sup>
                    </m:sSup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−1)</m:t>
                    </m:r>
                  </m:oMath>
                </a14:m>
                <a:endParaRPr lang="en-US" sz="2200" dirty="0"/>
              </a:p>
              <a:p>
                <a:r>
                  <a:rPr lang="en-US" sz="2400" dirty="0"/>
                  <a:t>Example:</a:t>
                </a:r>
                <a:r>
                  <a:rPr lang="en-US" sz="2200" dirty="0"/>
                  <a:t>  With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=8</m:t>
                    </m:r>
                    <m:r>
                      <a:rPr lang="en-US" sz="2200" b="0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/>
                  <a:t>bits</a:t>
                </a:r>
              </a:p>
              <a:p>
                <a:pPr lvl="1"/>
                <a:r>
                  <a:rPr lang="en-US" sz="2200" dirty="0"/>
                  <a:t>Range of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𝐼</m:t>
                    </m:r>
                    <m:d>
                      <m:d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−128,127</m:t>
                        </m:r>
                      </m:e>
                    </m:d>
                  </m:oMath>
                </a14:m>
                <a:endParaRPr lang="en-US" sz="2200" b="0" dirty="0"/>
              </a:p>
              <a:p>
                <a:pPr lvl="1"/>
                <a:r>
                  <a:rPr lang="en-US" sz="2200" dirty="0"/>
                  <a:t>Range of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𝑈</m:t>
                    </m:r>
                    <m:d>
                      <m:d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=[0, 255)</m:t>
                    </m:r>
                  </m:oMath>
                </a14:m>
                <a:endParaRPr lang="en-US" sz="2200" dirty="0"/>
              </a:p>
              <a:p>
                <a:pPr marL="0" indent="0">
                  <a:buNone/>
                </a:pPr>
                <a:endParaRPr lang="en-US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FB7205D-CAD9-1A0C-E30D-F9209318821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697" t="-19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0F40E2-C040-4D92-0CB1-2D7002105D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4798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9581A6-02E8-0F7A-09AA-4D0F925A2A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Truncation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0554987-A690-A9E1-D222-36507DEE0D4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97280" y="2605088"/>
                <a:ext cx="9946957" cy="3264006"/>
              </a:xfrm>
            </p:spPr>
            <p:txBody>
              <a:bodyPr>
                <a:normAutofit/>
              </a:bodyPr>
              <a:lstStyle/>
              <a:p>
                <a:r>
                  <a:rPr lang="en-US" sz="2400" dirty="0"/>
                  <a:t>Occurs when a variable is assigned a value out of range</a:t>
                </a:r>
              </a:p>
              <a:p>
                <a:r>
                  <a:rPr lang="en-US" sz="2400" dirty="0"/>
                  <a:t>In above code we need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∈[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−2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400" dirty="0"/>
              </a:p>
              <a:p>
                <a:r>
                  <a:rPr lang="en-US" sz="2400" dirty="0"/>
                  <a:t>When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400" dirty="0"/>
                  <a:t> is outside this range,  </a:t>
                </a:r>
                <a:r>
                  <a:rPr lang="en-US" sz="2400" dirty="0" err="1"/>
                  <a:t>SystemVerilog</a:t>
                </a:r>
                <a:r>
                  <a:rPr lang="en-US" sz="2400" dirty="0"/>
                  <a:t> will </a:t>
                </a:r>
                <a:r>
                  <a:rPr lang="en-US" sz="24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truncate</a:t>
                </a:r>
                <a:r>
                  <a:rPr lang="en-US" sz="2400" dirty="0"/>
                  <a:t>:</a:t>
                </a:r>
              </a:p>
              <a:p>
                <a:pPr lvl="1"/>
                <a:r>
                  <a:rPr lang="en-US" sz="2000" dirty="0"/>
                  <a:t>Take the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𝑊</m:t>
                    </m:r>
                  </m:oMath>
                </a14:m>
                <a:r>
                  <a:rPr lang="en-US" sz="2000" dirty="0"/>
                  <a:t> LSBs  of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endParaRPr lang="en-US" sz="2000" dirty="0"/>
              </a:p>
              <a:p>
                <a:pPr lvl="1"/>
                <a:r>
                  <a:rPr lang="en-US" sz="2000" dirty="0"/>
                  <a:t>Sign extend if necessary</a:t>
                </a:r>
              </a:p>
              <a:p>
                <a:r>
                  <a:rPr lang="en-US" sz="2400" dirty="0"/>
                  <a:t>Equivalent to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𝑚𝑜𝑑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sup>
                    </m:sSup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0554987-A690-A9E1-D222-36507DEE0D4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97280" y="2605088"/>
                <a:ext cx="9946957" cy="3264006"/>
              </a:xfrm>
              <a:blipFill>
                <a:blip r:embed="rId2"/>
                <a:stretch>
                  <a:fillRect l="-1716" t="-26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8392C3-884C-6E0E-8C8E-0C6DE6B1CA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5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38F3D9D-445A-21DC-DA23-3D91D7F692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1585913"/>
            <a:ext cx="5502668" cy="9048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30741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624C43-512B-4C5C-63C8-AE3E8FB2E2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Problem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A957DAC6-C6CE-6C48-D1A8-F2E090ABD74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48155" y="1685598"/>
            <a:ext cx="9864664" cy="2615869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4D8939-5A04-9550-FA7F-641D3C712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00935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074CD6-3350-022F-FF46-630E679C92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Solution using Binary Representations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C3F162-74F3-850A-7489-65ECAF7684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7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0CD8A88-770A-F4DA-96C3-B62E054BF0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6508" y="1725679"/>
            <a:ext cx="9517941" cy="292486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A80A056-FBD9-91D0-2564-5C0426A42B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851" y="2368760"/>
            <a:ext cx="1590188" cy="26306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54738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449DC1-6685-358F-978F-D64404D645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DE9712-F7C3-93A6-1979-549F4A9AC2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Solution using Modulo Arithmetic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AFED11-31FE-4646-8FD1-A92D7D34CA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8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1A4700B-053B-8D72-3089-6CD47800F1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190" y="2774559"/>
            <a:ext cx="1590188" cy="263068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EBDFA64-47B0-4F3E-192B-37376BB832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5848" y="1567881"/>
            <a:ext cx="9621505" cy="3431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40889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93E20A-7AA5-4B83-6E3D-C147A53B42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Simulating Truncation in Python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26263FE-4821-A80B-CD1F-DE33E6472F2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096000" y="1539277"/>
                <a:ext cx="5059680" cy="4329817"/>
              </a:xfrm>
            </p:spPr>
            <p:txBody>
              <a:bodyPr>
                <a:normAutofit/>
              </a:bodyPr>
              <a:lstStyle/>
              <a:p>
                <a:r>
                  <a:rPr lang="en-US" sz="2400" dirty="0"/>
                  <a:t>This code works for </a:t>
                </a:r>
                <a:r>
                  <a:rPr lang="en-US" sz="2400" dirty="0" err="1"/>
                  <a:t>numpy</a:t>
                </a:r>
                <a:r>
                  <a:rPr lang="en-US" sz="2400" dirty="0"/>
                  <a:t> arrays</a:t>
                </a:r>
              </a:p>
              <a:p>
                <a:r>
                  <a:rPr lang="en-US" sz="2400" dirty="0"/>
                  <a:t>Mask the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400" dirty="0"/>
                  <a:t> LSB</a:t>
                </a:r>
              </a:p>
              <a:p>
                <a:r>
                  <a:rPr lang="en-US" sz="2400" dirty="0"/>
                  <a:t>Then sign extend if necessary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26263FE-4821-A80B-CD1F-DE33E6472F2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00" y="1539277"/>
                <a:ext cx="5059680" cy="4329817"/>
              </a:xfrm>
              <a:blipFill>
                <a:blip r:embed="rId2"/>
                <a:stretch>
                  <a:fillRect l="-3373" t="-19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B2A99B-6287-BEA4-025A-00903A32CD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9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8FE6554-D96E-EEF0-4459-77302E2436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2227" y="1996531"/>
            <a:ext cx="4940774" cy="2348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21029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E532F4-ABA3-E09B-15B2-1380AAB895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Saturation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2921B1C-4967-D88A-DFD8-E872FB72C30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sz="2400" dirty="0"/>
                  <a:t>Truncation results in values far different from original</a:t>
                </a:r>
              </a:p>
              <a:p>
                <a:r>
                  <a:rPr lang="en-US" sz="2400" dirty="0"/>
                  <a:t>Alternatively, can </a:t>
                </a:r>
                <a:r>
                  <a:rPr lang="en-US" sz="24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saturate</a:t>
                </a:r>
                <a:r>
                  <a:rPr lang="en-US" sz="2200" dirty="0"/>
                  <a:t> </a:t>
                </a:r>
              </a:p>
              <a:p>
                <a:pPr lvl="1"/>
                <a:r>
                  <a:rPr lang="en-US" sz="2000" dirty="0"/>
                  <a:t>Clip to max or min values before assignment</a:t>
                </a:r>
              </a:p>
              <a:p>
                <a:pPr lvl="1"/>
                <a:r>
                  <a:rPr lang="en-US" sz="2000" dirty="0"/>
                  <a:t>Provides better performance</a:t>
                </a:r>
              </a:p>
              <a:p>
                <a:pPr lvl="1"/>
                <a:r>
                  <a:rPr lang="en-US" sz="2000" dirty="0"/>
                  <a:t>But adds a bit of extra logic</a:t>
                </a:r>
              </a:p>
              <a:p>
                <a:r>
                  <a:rPr lang="en-US" sz="2200" dirty="0"/>
                  <a:t>Example to right: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sz="2200" b="0" dirty="0"/>
              </a:p>
              <a:p>
                <a:pPr lvl="1"/>
                <a:r>
                  <a:rPr lang="en-US" sz="2000" dirty="0"/>
                  <a:t>Want to assign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endParaRPr lang="en-US" sz="2000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2921B1C-4967-D88A-DFD8-E872FB72C30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697" t="-19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19979E-8156-6C7E-34D0-DFD56C923F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10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4AC100A-5723-5A1E-811F-1A3DB203B7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1213" y="2224205"/>
            <a:ext cx="5050773" cy="36448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74118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E5F064-ADD6-AB27-9E55-C9CE489ACC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Addition Overflow Rules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1A31B8F-D9F5-F567-C26A-2C920BE058C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sz="2400" dirty="0"/>
                  <a:t>Consider adding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sz="2400" dirty="0"/>
                  <a:t> </a:t>
                </a:r>
              </a:p>
              <a:p>
                <a:r>
                  <a:rPr lang="en-US" sz="2400" dirty="0"/>
                  <a:t>If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sz="2400" dirty="0"/>
                  <a:t> and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sz="2400" dirty="0"/>
                  <a:t> are both signed or both unsigned:</a:t>
                </a:r>
              </a:p>
              <a:p>
                <a:pPr lvl="1"/>
                <a:r>
                  <a:rPr lang="en-US" sz="2200" dirty="0"/>
                  <a:t>No overflow requires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𝑊</m:t>
                    </m:r>
                    <m:d>
                      <m:d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d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≥</m:t>
                    </m:r>
                    <m:func>
                      <m:func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200" b="0" i="0" smtClean="0">
                            <a:latin typeface="Cambria Math" panose="02040503050406030204" pitchFamily="18" charset="0"/>
                          </a:rPr>
                          <m:t>max</m:t>
                        </m:r>
                      </m:fName>
                      <m:e>
                        <m:d>
                          <m:dPr>
                            <m:ctrlP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  <m:d>
                              <m:dPr>
                                <m:ctrlP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</m:d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  <m:d>
                              <m:dPr>
                                <m:ctrlP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</m:d>
                          </m:e>
                        </m:d>
                      </m:e>
                    </m:func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endParaRPr lang="en-US" sz="2200" b="0" dirty="0"/>
              </a:p>
              <a:p>
                <a:pPr lvl="1"/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𝑊</m:t>
                    </m:r>
                    <m:d>
                      <m:d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200" b="0" dirty="0"/>
                  <a:t> bit width of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en-US" sz="2200" b="0" dirty="0"/>
              </a:p>
              <a:p>
                <a:endParaRPr lang="en-US" sz="2400" dirty="0"/>
              </a:p>
              <a:p>
                <a:r>
                  <a:rPr lang="en-US" sz="2400" dirty="0"/>
                  <a:t>If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sz="2400" b="0" dirty="0"/>
                  <a:t> is signed and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sz="2400" b="0" dirty="0"/>
                  <a:t> is unsigned, </a:t>
                </a:r>
              </a:p>
              <a:p>
                <a:pPr lvl="1"/>
                <a:r>
                  <a:rPr lang="en-US" sz="2200" dirty="0"/>
                  <a:t>No overflow requires</a:t>
                </a:r>
                <a:r>
                  <a:rPr lang="en-US" sz="2200" b="0" dirty="0"/>
                  <a:t>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𝑊</m:t>
                    </m:r>
                    <m:d>
                      <m:d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d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≥</m:t>
                    </m:r>
                    <m:func>
                      <m:func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200" b="0" i="0" smtClean="0">
                            <a:latin typeface="Cambria Math" panose="02040503050406030204" pitchFamily="18" charset="0"/>
                          </a:rPr>
                          <m:t>max</m:t>
                        </m:r>
                      </m:fName>
                      <m:e>
                        <m:d>
                          <m:dPr>
                            <m:ctrlP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  <m:d>
                              <m:dPr>
                                <m:ctrlP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</m:d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  <m:d>
                              <m:dPr>
                                <m:ctrlP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</m:d>
                          </m:e>
                        </m:d>
                      </m:e>
                    </m:func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+2</m:t>
                    </m:r>
                  </m:oMath>
                </a14:m>
                <a:endParaRPr lang="en-US" sz="2200" b="0" dirty="0"/>
              </a:p>
              <a:p>
                <a:pPr lvl="1"/>
                <a:r>
                  <a:rPr lang="en-US" sz="2200" dirty="0"/>
                  <a:t>Example if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=7</m:t>
                    </m:r>
                  </m:oMath>
                </a14:m>
                <a:r>
                  <a:rPr lang="en-US" sz="2200" b="0" dirty="0"/>
                  <a:t> (4 bits signed),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=15</m:t>
                    </m:r>
                  </m:oMath>
                </a14:m>
                <a:r>
                  <a:rPr lang="en-US" sz="2200" b="0" dirty="0"/>
                  <a:t> (4 bits unsigned)</a:t>
                </a:r>
              </a:p>
              <a:p>
                <a:pPr lvl="1"/>
                <a:r>
                  <a:rPr lang="en-US" sz="2200" dirty="0"/>
                  <a:t>Sum is </a:t>
                </a:r>
                <a:r>
                  <a:rPr lang="en-US" sz="2200" b="0" dirty="0"/>
                  <a:t>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=22</m:t>
                    </m:r>
                  </m:oMath>
                </a14:m>
                <a:r>
                  <a:rPr lang="en-US" sz="2200" b="0" dirty="0"/>
                  <a:t> which needs 6 </a:t>
                </a:r>
                <a:r>
                  <a:rPr lang="en-US" sz="2200" dirty="0"/>
                  <a:t>bits signed.  </a:t>
                </a:r>
                <a:endParaRPr lang="en-US" sz="2200" b="0" dirty="0"/>
              </a:p>
              <a:p>
                <a:pPr marL="201168" lvl="1" indent="0">
                  <a:buNone/>
                </a:pPr>
                <a:endParaRPr lang="en-US" sz="2200" b="0" dirty="0"/>
              </a:p>
              <a:p>
                <a:endParaRPr lang="en-US" sz="2200" dirty="0"/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1A31B8F-D9F5-F567-C26A-2C920BE058C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697" t="-19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494160-AC9E-1B50-B6C7-D029D60798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11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4294AFD-E1A0-B7D0-A2CA-AD7F608DC2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56515" y="1539277"/>
            <a:ext cx="4492581" cy="1922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18977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F5FD15-4F83-138E-B36C-90947C5983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6AA9B3-4857-268F-96A3-C59ADDA09A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4290646"/>
            <a:ext cx="10058400" cy="1578448"/>
          </a:xfrm>
        </p:spPr>
        <p:txBody>
          <a:bodyPr/>
          <a:lstStyle/>
          <a:p>
            <a:r>
              <a:rPr lang="en-US" dirty="0"/>
              <a:t>See solution in the </a:t>
            </a:r>
            <a:r>
              <a:rPr lang="en-US" dirty="0" err="1"/>
              <a:t>autograder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E86D62-C1CC-B294-03EF-D935E98655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12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623C8E7-8656-1072-E07B-62E2F5BCB8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435" y="1734033"/>
            <a:ext cx="10236689" cy="1918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96150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2C269C-07D3-A6D8-DAE1-D8EB0444C9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Addition with Truncation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41823F-3F78-1EBE-8735-73573D44CA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Given a potential overflow, SV will:</a:t>
            </a:r>
          </a:p>
          <a:p>
            <a:pPr lvl="1"/>
            <a:r>
              <a:rPr lang="en-US" dirty="0"/>
              <a:t>Create a temporary variable with no overflow</a:t>
            </a:r>
          </a:p>
          <a:p>
            <a:pPr lvl="1"/>
            <a:r>
              <a:rPr lang="en-US" dirty="0"/>
              <a:t>Temporary variable has enough bits</a:t>
            </a:r>
          </a:p>
          <a:p>
            <a:pPr lvl="1"/>
            <a:r>
              <a:rPr lang="en-US" dirty="0"/>
              <a:t>Then it will truncate to lower bits</a:t>
            </a:r>
          </a:p>
          <a:p>
            <a:r>
              <a:rPr lang="en-US" dirty="0"/>
              <a:t>Saturation must be implemented manually</a:t>
            </a:r>
          </a:p>
          <a:p>
            <a:pPr lvl="1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A4D59D-163E-CE80-2F3E-E65C4A435B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13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CD53694-8D7C-BC42-4C09-402CDD27A6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7785" y="1995184"/>
            <a:ext cx="5567429" cy="36769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49704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6F885A-6075-7B8B-9C2F-8EC60FD23E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Multiplication Overflow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4A5F981-5232-AF2B-750A-4269E9B6AD4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97280" y="1539277"/>
                <a:ext cx="4832793" cy="4329817"/>
              </a:xfrm>
            </p:spPr>
            <p:txBody>
              <a:bodyPr>
                <a:normAutofit/>
              </a:bodyPr>
              <a:lstStyle/>
              <a:p>
                <a:r>
                  <a:rPr lang="en-US" sz="2400" dirty="0"/>
                  <a:t>Consider multiplying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endParaRPr lang="en-US" sz="2400" b="0" dirty="0"/>
              </a:p>
              <a:p>
                <a:pPr lvl="1"/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sz="2200" dirty="0"/>
                  <a:t> and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sz="2200" dirty="0"/>
                  <a:t> may be signed or unsigned</a:t>
                </a:r>
              </a:p>
              <a:p>
                <a:r>
                  <a:rPr lang="en-US" sz="2400" dirty="0"/>
                  <a:t>To prevent overflow, we need:</a:t>
                </a:r>
                <a:br>
                  <a:rPr lang="en-US" sz="2400" dirty="0"/>
                </a:br>
                <a:br>
                  <a:rPr lang="en-US" sz="2400" dirty="0"/>
                </a:b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𝑊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𝑊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𝑊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400" dirty="0"/>
              </a:p>
              <a:p>
                <a:pPr marL="201168" lvl="1" indent="0">
                  <a:buNone/>
                </a:pPr>
                <a:endParaRPr lang="en-US" sz="2200" dirty="0"/>
              </a:p>
              <a:p>
                <a:r>
                  <a:rPr lang="en-US" sz="2400" dirty="0"/>
                  <a:t>With overflow:</a:t>
                </a:r>
              </a:p>
              <a:p>
                <a:pPr lvl="1"/>
                <a:r>
                  <a:rPr lang="en-US" sz="2200" dirty="0"/>
                  <a:t>SV implements truncation 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4A5F981-5232-AF2B-750A-4269E9B6AD4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97280" y="1539277"/>
                <a:ext cx="4832793" cy="4329817"/>
              </a:xfrm>
              <a:blipFill>
                <a:blip r:embed="rId2"/>
                <a:stretch>
                  <a:fillRect l="-3531" t="-19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799F54-F659-F08F-05FC-64F0B5A616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14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9896161-8863-4E53-08B5-37F8BF3088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09859" y="2375291"/>
            <a:ext cx="6076973" cy="23806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58390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ABAD62-EFD3-4A23-A243-4EE6CCB9F8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184E710-867E-3EB4-4D95-95582849034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Two integer types: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𝐼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</m:oMath>
                </a14:m>
                <a:r>
                  <a:rPr lang="en-US" dirty="0"/>
                  <a:t> = signed integers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= unsigned</a:t>
                </a:r>
              </a:p>
              <a:p>
                <a:r>
                  <a:rPr lang="en-US" dirty="0"/>
                  <a:t>Each has finite range</a:t>
                </a:r>
              </a:p>
              <a:p>
                <a:r>
                  <a:rPr lang="en-US" dirty="0"/>
                  <a:t>Assignments outside that range result in </a:t>
                </a:r>
                <a:r>
                  <a:rPr lang="en-US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overflow</a:t>
                </a:r>
              </a:p>
              <a:p>
                <a:r>
                  <a:rPr lang="en-US" dirty="0"/>
                  <a:t>In case of overflow, system Verilog performs </a:t>
                </a:r>
                <a:r>
                  <a:rPr lang="en-US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truncation</a:t>
                </a:r>
              </a:p>
              <a:p>
                <a:r>
                  <a:rPr lang="en-US" dirty="0"/>
                  <a:t>Optionally, you can add code to explicitly </a:t>
                </a:r>
                <a:r>
                  <a:rPr lang="en-US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saturate</a:t>
                </a:r>
              </a:p>
              <a:p>
                <a:pPr lvl="1"/>
                <a:r>
                  <a:rPr lang="en-US" dirty="0"/>
                  <a:t>Offers better performance but adds additional logic</a:t>
                </a:r>
              </a:p>
              <a:p>
                <a:r>
                  <a:rPr lang="en-US" dirty="0"/>
                  <a:t>Arithmetic operations result in </a:t>
                </a:r>
                <a:r>
                  <a:rPr lang="en-US" dirty="0" err="1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bitwidth</a:t>
                </a:r>
                <a:r>
                  <a:rPr lang="en-US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 growth</a:t>
                </a:r>
              </a:p>
              <a:p>
                <a:pPr lvl="1"/>
                <a:r>
                  <a:rPr lang="en-US" dirty="0"/>
                  <a:t>Addition of 2 numbers requires 1 extra bit</a:t>
                </a:r>
              </a:p>
              <a:p>
                <a:pPr lvl="1"/>
                <a:r>
                  <a:rPr lang="en-US" dirty="0"/>
                  <a:t>Multiplication of 2 numbers requires width = product of the two numbers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184E710-867E-3EB4-4D95-95582849034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455" t="-15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8E26AF-F136-B272-06EA-D9A44E2024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7244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BE8775-9F86-7A39-58C1-6EDF571353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185162-D95C-A315-74A3-A12B5F6AB6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D08562-85F0-9FAB-BBED-A83638191F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Integers, Truncation, and Overflows</a:t>
            </a:r>
          </a:p>
          <a:p>
            <a:r>
              <a:rPr lang="en-US" sz="2400" dirty="0"/>
              <a:t>Floating Point Numbers</a:t>
            </a:r>
          </a:p>
          <a:p>
            <a:r>
              <a:rPr lang="en-US" sz="2400" dirty="0"/>
              <a:t>Fixed Point Numbers</a:t>
            </a:r>
          </a:p>
          <a:p>
            <a:r>
              <a:rPr lang="en-US" sz="2400" dirty="0"/>
              <a:t>Mapping Floating to Fixed Point in Python</a:t>
            </a:r>
          </a:p>
          <a:p>
            <a:r>
              <a:rPr lang="en-US" sz="2400" dirty="0"/>
              <a:t>System Verilog Implementation</a:t>
            </a:r>
          </a:p>
          <a:p>
            <a:endParaRPr lang="en-US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BDAC2A-8078-9D61-C4F8-C9311A4074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16</a:t>
            </a:fld>
            <a:endParaRPr lang="en-US" dirty="0"/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56A4920E-8609-36C0-4275-EF3A36B13435}"/>
              </a:ext>
            </a:extLst>
          </p:cNvPr>
          <p:cNvSpPr/>
          <p:nvPr/>
        </p:nvSpPr>
        <p:spPr>
          <a:xfrm>
            <a:off x="373372" y="1961513"/>
            <a:ext cx="938784" cy="484632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912263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5F78DC-B6D5-2D36-8DFD-776DF12C7E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Limitations of Integers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680F6D1-1E1A-7D95-DC9B-C86D38F84DB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sz="2800" dirty="0"/>
                  <a:t>Consider integers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800" dirty="0"/>
                  <a:t> or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𝑈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800" dirty="0"/>
              </a:p>
              <a:p>
                <a:r>
                  <a:rPr lang="en-US" sz="2800" dirty="0"/>
                  <a:t>Cannot handle fractional components</a:t>
                </a:r>
              </a:p>
              <a:p>
                <a:pPr lvl="1"/>
                <a:r>
                  <a:rPr lang="en-US" sz="2600" dirty="0"/>
                  <a:t>Ex:  7.9, -12.2</a:t>
                </a:r>
              </a:p>
              <a:p>
                <a:pPr lvl="1"/>
                <a:r>
                  <a:rPr lang="en-US" sz="2600" dirty="0"/>
                  <a:t>Rounding may cause excessive approximation error</a:t>
                </a:r>
              </a:p>
              <a:p>
                <a:r>
                  <a:rPr lang="en-US" sz="2800" dirty="0"/>
                  <a:t>Limited range</a:t>
                </a:r>
              </a:p>
              <a:p>
                <a:pPr lvl="1"/>
                <a:r>
                  <a:rPr lang="en-US" sz="2600" dirty="0"/>
                  <a:t>Values overflow </a:t>
                </a:r>
                <a14:m>
                  <m:oMath xmlns:m="http://schemas.openxmlformats.org/officeDocument/2006/math">
                    <m:r>
                      <a:rPr lang="en-US" sz="2600" b="0" i="1" smtClean="0">
                        <a:latin typeface="Cambria Math" panose="02040503050406030204" pitchFamily="18" charset="0"/>
                      </a:rPr>
                      <m:t>≥</m:t>
                    </m:r>
                    <m:sSup>
                      <m:sSupPr>
                        <m:ctrlPr>
                          <a:rPr lang="en-US" sz="2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26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sup>
                    </m:sSup>
                  </m:oMath>
                </a14:m>
                <a:r>
                  <a:rPr lang="en-US" sz="2600" dirty="0"/>
                  <a:t> for </a:t>
                </a:r>
                <a14:m>
                  <m:oMath xmlns:m="http://schemas.openxmlformats.org/officeDocument/2006/math">
                    <m:r>
                      <a:rPr lang="en-US" sz="2600" b="0" i="1" smtClean="0">
                        <a:latin typeface="Cambria Math" panose="02040503050406030204" pitchFamily="18" charset="0"/>
                      </a:rPr>
                      <m:t>𝑈</m:t>
                    </m:r>
                    <m:r>
                      <a:rPr lang="en-US" sz="26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6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6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600" dirty="0"/>
                  <a:t> and </a:t>
                </a:r>
                <a14:m>
                  <m:oMath xmlns:m="http://schemas.openxmlformats.org/officeDocument/2006/math">
                    <m:r>
                      <a:rPr lang="en-US" sz="2600" b="0" i="1" smtClean="0">
                        <a:latin typeface="Cambria Math" panose="02040503050406030204" pitchFamily="18" charset="0"/>
                      </a:rPr>
                      <m:t>≥</m:t>
                    </m:r>
                    <m:sSup>
                      <m:sSupPr>
                        <m:ctrlPr>
                          <a:rPr lang="en-US" sz="2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26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sz="26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en-US" sz="2600" dirty="0"/>
                  <a:t> for </a:t>
                </a:r>
                <a14:m>
                  <m:oMath xmlns:m="http://schemas.openxmlformats.org/officeDocument/2006/math">
                    <m:r>
                      <a:rPr lang="en-US" sz="2600" b="0" i="1" smtClean="0"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US" sz="26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6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6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600" dirty="0"/>
              </a:p>
              <a:p>
                <a:pPr lvl="1"/>
                <a:endParaRPr lang="en-US" sz="2600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680F6D1-1E1A-7D95-DC9B-C86D38F84DB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939" t="-23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800878-4E2D-3ED6-305F-C45C15749C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872747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0BE1B0-0B08-2E87-26A2-503E9ADA70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Simple Floating Point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64D0AC3-3808-FA17-CA93-E3D37A54520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97280" y="1539277"/>
                <a:ext cx="4248443" cy="4329817"/>
              </a:xfrm>
            </p:spPr>
            <p:txBody>
              <a:bodyPr>
                <a:normAutofit fontScale="92500" lnSpcReduction="10000"/>
              </a:bodyPr>
              <a:lstStyle/>
              <a:p>
                <a:r>
                  <a:rPr lang="en-US" dirty="0">
                    <a:solidFill>
                      <a:schemeClr val="accent1"/>
                    </a:solidFill>
                  </a:rPr>
                  <a:t>Fixed point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𝐹𝑃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>
                  <a:solidFill>
                    <a:schemeClr val="tx1"/>
                  </a:solidFill>
                </a:endParaRPr>
              </a:p>
              <a:p>
                <a:r>
                  <a:rPr lang="en-US" dirty="0">
                    <a:solidFill>
                      <a:srgbClr val="00B050"/>
                    </a:solidFill>
                  </a:rPr>
                  <a:t>Signed bit</a:t>
                </a:r>
                <a:r>
                  <a:rPr lang="en-US" dirty="0"/>
                  <a:t>:  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=0,</m:t>
                    </m:r>
                  </m:oMath>
                </a14:m>
                <a:r>
                  <a:rPr lang="en-US" dirty="0"/>
                  <a:t>1,  One bit</a:t>
                </a:r>
              </a:p>
              <a:p>
                <a:r>
                  <a:rPr lang="en-US" dirty="0">
                    <a:solidFill>
                      <a:srgbClr val="0070C0"/>
                    </a:solidFill>
                  </a:rPr>
                  <a:t>Exponent</a:t>
                </a:r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en-US" dirty="0"/>
                  <a:t> bits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𝑈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r>
                  <a:rPr lang="en-US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Mantissa, significand</a:t>
                </a:r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dirty="0"/>
                  <a:t> bits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 </a:t>
                </a:r>
              </a:p>
              <a:p>
                <a:pPr lvl="1"/>
                <a:r>
                  <a:rPr lang="en-US" dirty="0"/>
                  <a:t>Unsigned integer.  Not two complement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dirty="0"/>
                  <a:t> is the precision</a:t>
                </a:r>
              </a:p>
              <a:p>
                <a:r>
                  <a:rPr lang="en-US" dirty="0"/>
                  <a:t>Fixed scale factor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endParaRPr lang="en-US" b="0" dirty="0"/>
              </a:p>
              <a:p>
                <a:pPr lvl="1"/>
                <a:r>
                  <a:rPr lang="en-US" dirty="0"/>
                  <a:t>Constant,  no bits</a:t>
                </a:r>
              </a:p>
              <a:p>
                <a:pPr lvl="1"/>
                <a:r>
                  <a:rPr lang="en-US" dirty="0"/>
                  <a:t>Used to set range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More later</a:t>
                </a:r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64D0AC3-3808-FA17-CA93-E3D37A54520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97280" y="1539277"/>
                <a:ext cx="4248443" cy="4329817"/>
              </a:xfrm>
              <a:blipFill>
                <a:blip r:embed="rId2"/>
                <a:stretch>
                  <a:fillRect l="-3156" t="-183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4A7FD0-7DD8-C108-3CDC-3AF85F228D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18</a:t>
            </a:fld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A094D2F-8FB7-F6B7-E9FA-265B5AF1AA49}"/>
              </a:ext>
            </a:extLst>
          </p:cNvPr>
          <p:cNvSpPr/>
          <p:nvPr/>
        </p:nvSpPr>
        <p:spPr>
          <a:xfrm>
            <a:off x="7155418" y="2467370"/>
            <a:ext cx="270532" cy="670920"/>
          </a:xfrm>
          <a:prstGeom prst="rect">
            <a:avLst/>
          </a:prstGeom>
          <a:solidFill>
            <a:srgbClr val="CCFFC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2A2193E-B541-411E-1132-D8E6A3C08A38}"/>
              </a:ext>
            </a:extLst>
          </p:cNvPr>
          <p:cNvSpPr/>
          <p:nvPr/>
        </p:nvSpPr>
        <p:spPr>
          <a:xfrm>
            <a:off x="9146994" y="2489923"/>
            <a:ext cx="2683373" cy="67092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14166D8-BC7B-42A4-4A36-16E95F0E3D16}"/>
              </a:ext>
            </a:extLst>
          </p:cNvPr>
          <p:cNvSpPr/>
          <p:nvPr/>
        </p:nvSpPr>
        <p:spPr>
          <a:xfrm>
            <a:off x="7609640" y="2489923"/>
            <a:ext cx="1431402" cy="67092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A286449-981B-DA82-121B-07794C477EE5}"/>
                  </a:ext>
                </a:extLst>
              </p:cNvPr>
              <p:cNvSpPr txBox="1"/>
              <p:nvPr/>
            </p:nvSpPr>
            <p:spPr>
              <a:xfrm>
                <a:off x="7832117" y="1485901"/>
                <a:ext cx="2784032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𝐴</m:t>
                    </m:r>
                    <m:sSup>
                      <m:sSupPr>
                        <m:ctrlPr>
                          <a:rPr lang="en-US" sz="28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800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800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</m:e>
                      <m:sup>
                        <m:r>
                          <a:rPr lang="en-US" sz="28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sup>
                    </m:sSup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sz="28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28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p>
                    </m:sSup>
                  </m:oMath>
                </a14:m>
                <a:r>
                  <a:rPr lang="en-US" sz="2800" dirty="0"/>
                  <a:t> 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A286449-981B-DA82-121B-07794C477E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32117" y="1485901"/>
                <a:ext cx="2784032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57A1AEAD-E3E0-24CD-7583-70239902B19C}"/>
              </a:ext>
            </a:extLst>
          </p:cNvPr>
          <p:cNvSpPr txBox="1"/>
          <p:nvPr/>
        </p:nvSpPr>
        <p:spPr>
          <a:xfrm>
            <a:off x="7109503" y="3473352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8C9858F-D103-933E-9B86-6DAC4C68B50C}"/>
                  </a:ext>
                </a:extLst>
              </p:cNvPr>
              <p:cNvSpPr txBox="1"/>
              <p:nvPr/>
            </p:nvSpPr>
            <p:spPr>
              <a:xfrm>
                <a:off x="10444369" y="3499168"/>
                <a:ext cx="42889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𝑝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8C9858F-D103-933E-9B86-6DAC4C68B5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44369" y="3499168"/>
                <a:ext cx="428899" cy="461665"/>
              </a:xfrm>
              <a:prstGeom prst="rect">
                <a:avLst/>
              </a:prstGeom>
              <a:blipFill>
                <a:blip r:embed="rId4"/>
                <a:stretch>
                  <a:fillRect b="-105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16618A1-E9CB-1C76-1EA1-EDDD46FAFFA1}"/>
                  </a:ext>
                </a:extLst>
              </p:cNvPr>
              <p:cNvSpPr txBox="1"/>
              <p:nvPr/>
            </p:nvSpPr>
            <p:spPr>
              <a:xfrm>
                <a:off x="8111540" y="3473352"/>
                <a:ext cx="49026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𝑤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16618A1-E9CB-1C76-1EA1-EDDD46FAFF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11540" y="3473352"/>
                <a:ext cx="490262" cy="4616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DBF10AD0-1F80-15DF-E81C-4BE056F4EF17}"/>
              </a:ext>
            </a:extLst>
          </p:cNvPr>
          <p:cNvSpPr txBox="1"/>
          <p:nvPr/>
        </p:nvSpPr>
        <p:spPr>
          <a:xfrm>
            <a:off x="6329323" y="3473352"/>
            <a:ext cx="79861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Bits=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737CD8B1-3C41-EED1-4017-B4DDE99F3B76}"/>
                  </a:ext>
                </a:extLst>
              </p:cNvPr>
              <p:cNvSpPr txBox="1"/>
              <p:nvPr/>
            </p:nvSpPr>
            <p:spPr>
              <a:xfrm>
                <a:off x="8045586" y="4576794"/>
                <a:ext cx="267009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1+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en-US" sz="2400" dirty="0"/>
                  <a:t> bits total</a:t>
                </a: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737CD8B1-3C41-EED1-4017-B4DDE99F3B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45586" y="4576794"/>
                <a:ext cx="2670090" cy="461665"/>
              </a:xfrm>
              <a:prstGeom prst="rect">
                <a:avLst/>
              </a:prstGeom>
              <a:blipFill>
                <a:blip r:embed="rId6"/>
                <a:stretch>
                  <a:fillRect l="-685" t="-10526" r="-2283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Left Brace 13">
            <a:extLst>
              <a:ext uri="{FF2B5EF4-FFF2-40B4-BE49-F238E27FC236}">
                <a16:creationId xmlns:a16="http://schemas.microsoft.com/office/drawing/2014/main" id="{69C07C5F-0E2D-1D48-8D39-0EF6CB58EB5A}"/>
              </a:ext>
            </a:extLst>
          </p:cNvPr>
          <p:cNvSpPr/>
          <p:nvPr/>
        </p:nvSpPr>
        <p:spPr>
          <a:xfrm rot="16200000">
            <a:off x="9178929" y="1997111"/>
            <a:ext cx="395319" cy="4764048"/>
          </a:xfrm>
          <a:prstGeom prst="leftBrac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238287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6742B7-BFC7-F5BA-79DA-30CF2B6155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21679AF-8EAE-2077-FAB7-C9DB318F4A0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b="0" dirty="0"/>
                  <a:t>Consider some values with:</a:t>
                </a:r>
              </a:p>
              <a:p>
                <a:pPr lvl="1"/>
                <a:r>
                  <a:rPr lang="en-US" b="0" dirty="0"/>
                  <a:t>Precision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=10, </m:t>
                    </m:r>
                  </m:oMath>
                </a14:m>
                <a:r>
                  <a:rPr lang="en-US" dirty="0"/>
                  <a:t>Exponent width =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endParaRPr lang="en-US" b="0" dirty="0"/>
              </a:p>
              <a:p>
                <a:pPr lvl="1"/>
                <a:r>
                  <a:rPr lang="en-US" dirty="0"/>
                  <a:t>Scale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−8</m:t>
                        </m:r>
                      </m:sup>
                    </m:sSup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These values are never used.  Just for demo</a:t>
                </a:r>
              </a:p>
              <a:p>
                <a:r>
                  <a:rPr lang="en-US" dirty="0"/>
                  <a:t>Total number of bits = 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1+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=16</m:t>
                    </m:r>
                  </m:oMath>
                </a14:m>
                <a:r>
                  <a:rPr lang="en-US" dirty="0"/>
                  <a:t> bits</a:t>
                </a:r>
              </a:p>
              <a:p>
                <a:r>
                  <a:rPr lang="en-US" dirty="0"/>
                  <a:t>Mantissa range is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0,1023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dirty="0"/>
                  <a:t>  Exponent range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0,31</m:t>
                        </m:r>
                      </m:e>
                    </m:d>
                  </m:oMath>
                </a14:m>
                <a:endParaRPr lang="en-US" b="0" dirty="0"/>
              </a:p>
              <a:p>
                <a:r>
                  <a:rPr lang="en-US" dirty="0"/>
                  <a:t>Table to the right shows values with</a:t>
                </a:r>
                <a:br>
                  <a:rPr lang="en-US" dirty="0"/>
                </a:b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sup>
                    </m:sSup>
                  </m:oMath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21679AF-8EAE-2077-FAB7-C9DB318F4A0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455" t="-15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245DAF-FF25-9BC2-3E1B-7EB3FEC70E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19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108C8D8-248B-4E9B-8446-A43F4C034C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0992" y="1940368"/>
            <a:ext cx="3971054" cy="2319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935762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1E7785-D7A7-6EF1-E057-05BF2ADD1C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Problem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643BCA96-7511-1F74-0CB7-3C69C90A375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58929" y="1618975"/>
            <a:ext cx="10398362" cy="3775444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BEB17A-409D-A786-BAB4-BCF82F68A9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98742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410631-9C0A-E80F-6365-5DBAF61052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Solution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85A42768-CC5C-F812-7D39-F7C54B77147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13862" y="1704355"/>
            <a:ext cx="9696968" cy="3765813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B1625A-95F6-DDC5-F617-A2CED92A5A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040954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877368-C67A-2296-7EBD-A6EB5D9106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Terminology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17B2858-1DA4-CBEF-51C0-988B155EE6E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sz="2400" dirty="0"/>
                  <a:t>To compare ways of representing numbers, we introduce some terminology</a:t>
                </a:r>
              </a:p>
              <a:p>
                <a:r>
                  <a:rPr lang="en-US" sz="24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Class </a:t>
                </a:r>
                <a:r>
                  <a:rPr lang="en-US" sz="2400" dirty="0">
                    <a:solidFill>
                      <a:schemeClr val="tx1"/>
                    </a:solidFill>
                  </a:rPr>
                  <a:t>or</a:t>
                </a:r>
                <a:r>
                  <a:rPr lang="en-US" sz="24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 Format</a:t>
                </a:r>
                <a:r>
                  <a:rPr lang="en-US" sz="2400" dirty="0"/>
                  <a:t>:  A finite </a:t>
                </a:r>
                <a:r>
                  <a:rPr lang="en-US" sz="24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set</a:t>
                </a:r>
                <a:r>
                  <a:rPr lang="en-US" sz="2400" dirty="0"/>
                  <a:t> of real-valued numbers </a:t>
                </a:r>
              </a:p>
              <a:p>
                <a:pPr lvl="1"/>
                <a:r>
                  <a:rPr lang="en-US" sz="2000" dirty="0"/>
                  <a:t>Example: 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𝐼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𝑈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𝐹𝑃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000" dirty="0"/>
              </a:p>
              <a:p>
                <a:r>
                  <a:rPr lang="en-US" sz="24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Bit representation</a:t>
                </a:r>
                <a:r>
                  <a:rPr lang="en-US" sz="2400" dirty="0"/>
                  <a:t>:  The bit encoding used to store each element in the class:  </a:t>
                </a:r>
              </a:p>
              <a:p>
                <a:pPr lvl="1"/>
                <a:r>
                  <a:rPr lang="en-US" sz="2000" dirty="0"/>
                  <a:t>For integer:  Representation is the two-complement or unsigned integer</a:t>
                </a:r>
              </a:p>
              <a:p>
                <a:pPr lvl="1"/>
                <a:r>
                  <a:rPr lang="en-US" sz="2000" dirty="0"/>
                  <a:t>For FP:  representation is the triple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000" dirty="0"/>
              </a:p>
              <a:p>
                <a:r>
                  <a:rPr lang="en-US" sz="24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Decoded</a:t>
                </a:r>
                <a:r>
                  <a:rPr lang="en-US" sz="2400" dirty="0"/>
                  <a:t> or </a:t>
                </a:r>
                <a:r>
                  <a:rPr lang="en-US" sz="24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numeric value</a:t>
                </a:r>
                <a:r>
                  <a:rPr lang="en-US" sz="2400" dirty="0"/>
                  <a:t>:  The real-value for a given bit representation </a:t>
                </a:r>
              </a:p>
              <a:p>
                <a:pPr lvl="1"/>
                <a:r>
                  <a:rPr lang="en-US" sz="2000" dirty="0"/>
                  <a:t>Example: 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𝐴</m:t>
                    </m:r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sup>
                    </m:sSup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sup>
                    </m:sSup>
                  </m:oMath>
                </a14:m>
                <a:endParaRPr lang="en-US" sz="20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17B2858-1DA4-CBEF-51C0-988B155EE6E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697" t="-1972" r="-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EA3B1C-0F54-4A4C-DFAB-29634DEDD2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55730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89BBBC-B8AB-55A8-9903-BFAD594C87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Dynamic Range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25635D6-57F1-D2CC-6428-B7FA4CC87AD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sz="2400" dirty="0"/>
                  <a:t>A benefit of Floating point is its dynamic range</a:t>
                </a:r>
              </a:p>
              <a:p>
                <a:r>
                  <a:rPr lang="en-US" sz="24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Dynamic range</a:t>
                </a:r>
                <a:r>
                  <a:rPr lang="en-US" sz="2400" dirty="0"/>
                  <a:t>:  Given a number class:  </a:t>
                </a:r>
                <a:br>
                  <a:rPr lang="en-US" sz="2400" dirty="0"/>
                </a:br>
                <a:br>
                  <a:rPr lang="en-US" sz="2400" dirty="0"/>
                </a:b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unc>
                          <m:func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limLow>
                              <m:limLow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limLowPr>
                              <m:e>
                                <m:r>
                                  <m:rPr>
                                    <m:sty m:val="p"/>
                                  </m:rPr>
                                  <a:rPr lang="en-US" sz="2400" b="0" i="0" smtClean="0">
                                    <a:latin typeface="Cambria Math" panose="02040503050406030204" pitchFamily="18" charset="0"/>
                                  </a:rPr>
                                  <m:t>max</m:t>
                                </m:r>
                              </m:e>
                              <m:lim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&gt;0</m:t>
                                </m:r>
                              </m:lim>
                            </m:limLow>
                          </m:fName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</m:e>
                        </m:func>
                      </m:num>
                      <m:den>
                        <m:func>
                          <m:func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limLow>
                              <m:limLow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limLowPr>
                              <m:e>
                                <m:r>
                                  <m:rPr>
                                    <m:sty m:val="p"/>
                                  </m:rPr>
                                  <a:rPr lang="en-US" sz="2400" b="0" i="0" smtClean="0">
                                    <a:latin typeface="Cambria Math" panose="02040503050406030204" pitchFamily="18" charset="0"/>
                                  </a:rPr>
                                  <m:t>min</m:t>
                                </m:r>
                              </m:e>
                              <m:lim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≠0</m:t>
                                </m:r>
                              </m:lim>
                            </m:limLow>
                          </m:fName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|</m:t>
                            </m:r>
                          </m:e>
                        </m:func>
                      </m:den>
                    </m:f>
                  </m:oMath>
                </a14:m>
                <a:endParaRPr lang="en-US" sz="2400" b="0" dirty="0"/>
              </a:p>
              <a:p>
                <a:pPr lvl="1"/>
                <a:endParaRPr lang="en-US" sz="2200" dirty="0"/>
              </a:p>
              <a:p>
                <a:pPr lvl="1"/>
                <a:r>
                  <a:rPr lang="en-US" sz="2200" dirty="0"/>
                  <a:t>Represents span between the max before overflow and underflow</a:t>
                </a:r>
              </a:p>
              <a:p>
                <a:r>
                  <a:rPr lang="en-US" sz="2400" dirty="0"/>
                  <a:t>Often quoted in dB: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𝑑𝐵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=20</m:t>
                    </m:r>
                    <m:func>
                      <m:func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400" b="0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10</m:t>
                            </m:r>
                          </m:sub>
                        </m:sSub>
                      </m:fName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( 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 )</m:t>
                        </m:r>
                      </m:e>
                    </m:func>
                  </m:oMath>
                </a14:m>
                <a:endParaRPr lang="en-US" sz="2400" dirty="0"/>
              </a:p>
              <a:p>
                <a:r>
                  <a:rPr lang="en-US" sz="2400" dirty="0"/>
                  <a:t>Or bits: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𝑏𝑖𝑡𝑠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400" b="0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fName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( 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 )</m:t>
                        </m:r>
                      </m:e>
                    </m:func>
                  </m:oMath>
                </a14:m>
                <a:endParaRPr lang="en-US" sz="2400" dirty="0"/>
              </a:p>
              <a:p>
                <a:pPr lvl="1"/>
                <a:endParaRPr lang="en-US" sz="22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25635D6-57F1-D2CC-6428-B7FA4CC87AD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697" t="-19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DAB81A-79AC-B26E-D7E4-94E4E3A6F5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475272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464634E-1541-ECF1-2015-5E16156AA36F}"/>
              </a:ext>
            </a:extLst>
          </p:cNvPr>
          <p:cNvSpPr/>
          <p:nvPr/>
        </p:nvSpPr>
        <p:spPr>
          <a:xfrm>
            <a:off x="4262437" y="4086224"/>
            <a:ext cx="3776663" cy="676275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F3D8ABA-1AFE-21B4-5602-1C57D6EC43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Dynamic Range of Integers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56F597B-B550-3DB2-CD40-5D669503316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97279" y="1539277"/>
                <a:ext cx="10318433" cy="4329817"/>
              </a:xfrm>
            </p:spPr>
            <p:txBody>
              <a:bodyPr>
                <a:normAutofit/>
              </a:bodyPr>
              <a:lstStyle/>
              <a:p>
                <a:r>
                  <a:rPr lang="en-US" sz="2400" dirty="0"/>
                  <a:t>Consider signed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sz="2400" dirty="0"/>
                  <a:t> bit integers: 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400" dirty="0"/>
              </a:p>
              <a:p>
                <a:r>
                  <a:rPr lang="en-US" sz="2400" dirty="0"/>
                  <a:t>Max value: 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sz="2400" b="0" i="0" smtClean="0">
                                <a:latin typeface="Cambria Math" panose="02040503050406030204" pitchFamily="18" charset="0"/>
                              </a:rPr>
                              <m:t>max</m:t>
                            </m:r>
                          </m:e>
                          <m:lim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&gt;0</m:t>
                            </m:r>
                          </m:lim>
                        </m:limLow>
                      </m:fName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|</m:t>
                        </m:r>
                      </m:e>
                    </m:func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−1≈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endParaRPr lang="en-US" sz="2400" dirty="0"/>
              </a:p>
              <a:p>
                <a:r>
                  <a:rPr lang="en-US" sz="2400" dirty="0"/>
                  <a:t>Min non-zero value: 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400" b="0" i="0" smtClean="0">
                            <a:latin typeface="Cambria Math" panose="02040503050406030204" pitchFamily="18" charset="0"/>
                          </a:rPr>
                          <m:t>min</m:t>
                        </m:r>
                      </m:fName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|</m:t>
                        </m:r>
                      </m:e>
                    </m:func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US" sz="2400" dirty="0"/>
              </a:p>
              <a:p>
                <a:r>
                  <a:rPr lang="en-US" sz="2400" dirty="0"/>
                  <a:t>Hence dynamic range of integers:  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endParaRPr lang="en-US" sz="2400" dirty="0"/>
              </a:p>
              <a:p>
                <a:r>
                  <a:rPr lang="en-US" sz="2400" dirty="0"/>
                  <a:t>For integers, dynamic range is:</a:t>
                </a:r>
                <a:br>
                  <a:rPr lang="en-US" sz="2400" dirty="0"/>
                </a:br>
                <a:br>
                  <a:rPr lang="en-US" sz="2400" dirty="0"/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𝑏𝑖𝑡𝑠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400" b="0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fName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func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endParaRPr lang="en-US" sz="2400" dirty="0"/>
              </a:p>
              <a:p>
                <a:pPr lvl="1"/>
                <a:endParaRPr lang="en-US" sz="2200" dirty="0"/>
              </a:p>
              <a:p>
                <a:pPr lvl="1"/>
                <a:r>
                  <a:rPr lang="en-US" sz="2200" dirty="0"/>
                  <a:t>equal to number of non-sign bits</a:t>
                </a:r>
              </a:p>
              <a:p>
                <a:endParaRPr lang="en-US" sz="2400" dirty="0"/>
              </a:p>
              <a:p>
                <a:endParaRPr lang="en-US" sz="2400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56F597B-B550-3DB2-CD40-5D669503316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97279" y="1539277"/>
                <a:ext cx="10318433" cy="4329817"/>
              </a:xfrm>
              <a:blipFill>
                <a:blip r:embed="rId2"/>
                <a:stretch>
                  <a:fillRect l="-1654" t="-19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473383-44DD-5E8E-0103-38840ECE61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925764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EEB59B17-5DD3-AC31-48E8-90E49AC84B26}"/>
              </a:ext>
            </a:extLst>
          </p:cNvPr>
          <p:cNvSpPr/>
          <p:nvPr/>
        </p:nvSpPr>
        <p:spPr>
          <a:xfrm>
            <a:off x="4238148" y="4133849"/>
            <a:ext cx="3776663" cy="676275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16BD666-9D8F-BF7C-73E1-E86E2E47FE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Floating-Point Dynamic Range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DD4012F-4DB6-459F-7B93-DD972EF876D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Recall: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𝐴𝑐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sup>
                    </m:sSup>
                  </m:oMath>
                </a14:m>
                <a:endParaRPr lang="en-US" b="0" dirty="0"/>
              </a:p>
              <a:p>
                <a:r>
                  <a:rPr lang="en-US" dirty="0"/>
                  <a:t>Largest value for 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lang="en-US" dirty="0"/>
                  <a:t>: </a:t>
                </a:r>
              </a:p>
              <a:p>
                <a:pPr lvl="1"/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−1≈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, 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−1⇒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max</m:t>
                        </m:r>
                      </m:fNam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|</m:t>
                        </m:r>
                      </m:e>
                    </m:func>
                    <m:r>
                      <a:rPr lang="en-US" b="0" i="1" smtClean="0">
                        <a:latin typeface="Cambria Math" panose="02040503050406030204" pitchFamily="18" charset="0"/>
                      </a:rPr>
                      <m:t>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p>
                    </m:sSup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sup>
                        </m:sSup>
                      </m:sup>
                    </m:sSup>
                  </m:oMath>
                </a14:m>
                <a:endParaRPr lang="en-US" b="0" dirty="0"/>
              </a:p>
              <a:p>
                <a:r>
                  <a:rPr lang="en-US" b="0" dirty="0"/>
                  <a:t>Smallest non-zero value for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endParaRPr lang="en-US" b="0" dirty="0"/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=1,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=0⇒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𝑚𝑖𝑛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endParaRPr lang="en-US" b="0" dirty="0"/>
              </a:p>
              <a:p>
                <a:r>
                  <a:rPr lang="en-US" b="0" dirty="0"/>
                  <a:t>Dynamic range: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sup>
                        </m:sSup>
                      </m:sup>
                    </m:sSup>
                  </m:oMath>
                </a14:m>
                <a:endParaRPr lang="en-US" b="0" dirty="0"/>
              </a:p>
              <a:p>
                <a:r>
                  <a:rPr lang="en-US" dirty="0"/>
                  <a:t>For floating point:</a:t>
                </a:r>
                <a:br>
                  <a:rPr lang="en-US" dirty="0"/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𝑏𝑖𝑡𝑠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−1+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sup>
                    </m:sSup>
                  </m:oMath>
                </a14:m>
                <a:endParaRPr lang="en-US" b="0" dirty="0"/>
              </a:p>
              <a:p>
                <a:endParaRPr lang="en-US" dirty="0"/>
              </a:p>
              <a:p>
                <a:pPr lvl="1"/>
                <a:r>
                  <a:rPr lang="en-US" dirty="0"/>
                  <a:t>Grows exponentially with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en-US" b="0" dirty="0"/>
                  <a:t> 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DD4012F-4DB6-459F-7B93-DD972EF876D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455" t="-15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7892E4-BD00-AE2A-D956-828E5726A1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422441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ED3895-6520-29C2-4A1A-1BAEF3724B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Comparison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FF836FA-6066-6E31-7774-451B86CB94D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sz="2800" dirty="0"/>
                  <a:t>32-bit integer:  </a:t>
                </a:r>
              </a:p>
              <a:p>
                <a:pPr lvl="1"/>
                <a:r>
                  <a:rPr lang="en-US" sz="2400" dirty="0"/>
                  <a:t>Range goes from 1 to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31</m:t>
                        </m:r>
                      </m:sup>
                    </m:sSup>
                  </m:oMath>
                </a14:m>
                <a:endParaRPr lang="en-US" sz="2400" dirty="0"/>
              </a:p>
              <a:p>
                <a:pPr lvl="1"/>
                <a:r>
                  <a:rPr lang="en-US" sz="2400" dirty="0"/>
                  <a:t>Dynamic range in linear scale</a:t>
                </a: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≈</m:t>
                    </m:r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2.14</m:t>
                        </m:r>
                        <m:d>
                          <m:d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10</m:t>
                            </m:r>
                          </m:e>
                        </m:d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9</m:t>
                        </m:r>
                      </m:sup>
                    </m:sSup>
                  </m:oMath>
                </a14:m>
                <a:r>
                  <a:rPr lang="en-US" sz="2400" dirty="0"/>
                  <a:t> 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=32⇒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𝑏𝑖𝑡𝑠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−1=31</m:t>
                    </m:r>
                  </m:oMath>
                </a14:m>
                <a:r>
                  <a:rPr lang="en-US" sz="2400" b="0" dirty="0"/>
                  <a:t> bits</a:t>
                </a:r>
              </a:p>
              <a:p>
                <a:r>
                  <a:rPr lang="en-US" sz="2400" dirty="0"/>
                  <a:t>32-bit floating point:</a:t>
                </a:r>
              </a:p>
              <a:p>
                <a:pPr lvl="1"/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=23, </m:t>
                    </m:r>
                  </m:oMath>
                </a14:m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=8</m:t>
                    </m:r>
                  </m:oMath>
                </a14:m>
                <a:endParaRPr lang="en-US" sz="2400" b="0" dirty="0"/>
              </a:p>
              <a:p>
                <a:pPr lvl="1"/>
                <a:r>
                  <a:rPr lang="en-US" sz="2400" dirty="0"/>
                  <a:t>Dynamic range in bits: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𝑏𝑖𝑡𝑠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−1+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=22+255=</m:t>
                    </m:r>
                    <m:r>
                      <a:rPr lang="en-US" sz="2400" b="0" i="1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277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/>
                  <a:t> bits</a:t>
                </a:r>
              </a:p>
              <a:p>
                <a:pPr lvl="1"/>
                <a:r>
                  <a:rPr lang="en-US" sz="2400" dirty="0"/>
                  <a:t>Dynamic range in linear scale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≈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83</m:t>
                        </m:r>
                      </m:sup>
                    </m:sSup>
                  </m:oMath>
                </a14:m>
                <a:endParaRPr lang="en-US" sz="2400" dirty="0"/>
              </a:p>
              <a:p>
                <a:r>
                  <a:rPr lang="en-US" sz="2600" dirty="0"/>
                  <a:t>FP has </a:t>
                </a:r>
                <a14:m>
                  <m:oMath xmlns:m="http://schemas.openxmlformats.org/officeDocument/2006/math">
                    <m:r>
                      <a:rPr lang="en-US" sz="2600" b="0" i="1" smtClean="0">
                        <a:latin typeface="Cambria Math" panose="02040503050406030204" pitchFamily="18" charset="0"/>
                      </a:rPr>
                      <m:t>&gt;70</m:t>
                    </m:r>
                  </m:oMath>
                </a14:m>
                <a:r>
                  <a:rPr lang="en-US" sz="2600" dirty="0"/>
                  <a:t> orders of magnitude more range</a:t>
                </a:r>
              </a:p>
              <a:p>
                <a:pPr lvl="1"/>
                <a:endParaRPr lang="en-US" sz="2400" dirty="0"/>
              </a:p>
              <a:p>
                <a:pPr lvl="1"/>
                <a:endParaRPr lang="en-US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FF836FA-6066-6E31-7774-451B86CB94D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939" t="-23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A337DF-0C9A-FEBB-9802-B3F339BB22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046510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06BA1B-64BD-32AA-E447-D6A3AC7810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IEEE-754 Floating Point Standard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D3354F87-FE43-3CC8-4359-8EE4D32D846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21363077"/>
              </p:ext>
            </p:extLst>
          </p:nvPr>
        </p:nvGraphicFramePr>
        <p:xfrm>
          <a:off x="201611" y="1644649"/>
          <a:ext cx="6132512" cy="39771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33128">
                  <a:extLst>
                    <a:ext uri="{9D8B030D-6E8A-4147-A177-3AD203B41FA5}">
                      <a16:colId xmlns:a16="http://schemas.microsoft.com/office/drawing/2014/main" val="2767047174"/>
                    </a:ext>
                  </a:extLst>
                </a:gridCol>
                <a:gridCol w="1533128">
                  <a:extLst>
                    <a:ext uri="{9D8B030D-6E8A-4147-A177-3AD203B41FA5}">
                      <a16:colId xmlns:a16="http://schemas.microsoft.com/office/drawing/2014/main" val="401183729"/>
                    </a:ext>
                  </a:extLst>
                </a:gridCol>
                <a:gridCol w="1533128">
                  <a:extLst>
                    <a:ext uri="{9D8B030D-6E8A-4147-A177-3AD203B41FA5}">
                      <a16:colId xmlns:a16="http://schemas.microsoft.com/office/drawing/2014/main" val="4133309420"/>
                    </a:ext>
                  </a:extLst>
                </a:gridCol>
                <a:gridCol w="1533128">
                  <a:extLst>
                    <a:ext uri="{9D8B030D-6E8A-4147-A177-3AD203B41FA5}">
                      <a16:colId xmlns:a16="http://schemas.microsoft.com/office/drawing/2014/main" val="1770200214"/>
                    </a:ext>
                  </a:extLst>
                </a:gridCol>
              </a:tblGrid>
              <a:tr h="929481">
                <a:tc>
                  <a:txBody>
                    <a:bodyPr/>
                    <a:lstStyle/>
                    <a:p>
                      <a:r>
                        <a:rPr lang="en-US" dirty="0"/>
                        <a:t>Format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Mantissa bits (stored)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Significand precision (with implicit 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Exponent bits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126867"/>
                  </a:ext>
                </a:extLst>
              </a:tr>
              <a:tr h="929481">
                <a:tc>
                  <a:txBody>
                    <a:bodyPr/>
                    <a:lstStyle/>
                    <a:p>
                      <a:r>
                        <a:rPr lang="en-US" dirty="0"/>
                        <a:t>FP16 (half)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9377438"/>
                  </a:ext>
                </a:extLst>
              </a:tr>
              <a:tr h="929481">
                <a:tc>
                  <a:txBody>
                    <a:bodyPr/>
                    <a:lstStyle/>
                    <a:p>
                      <a:r>
                        <a:rPr lang="en-US" dirty="0"/>
                        <a:t>FP32 (single)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8772127"/>
                  </a:ext>
                </a:extLst>
              </a:tr>
              <a:tr h="929481">
                <a:tc>
                  <a:txBody>
                    <a:bodyPr/>
                    <a:lstStyle/>
                    <a:p>
                      <a:r>
                        <a:rPr lang="en-US" dirty="0"/>
                        <a:t>FP64 (double)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9271215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25EDC3-ACD3-62FF-645F-B54859C89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27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C1D992A-490E-BD2C-A1D3-39E5889304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8995" y="2266950"/>
            <a:ext cx="5052005" cy="1918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54048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D1179C-EADB-4796-3BDA-C146B86268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IEEE 754 Normal and Sub-Normal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408ADBB-0154-8466-6385-21D2E134310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US" sz="2400" dirty="0"/>
                  <a:t>For FP32: precision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=23</m:t>
                    </m:r>
                  </m:oMath>
                </a14:m>
                <a:r>
                  <a:rPr lang="en-US" sz="2400" dirty="0"/>
                  <a:t> and exponent width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=8</m:t>
                    </m:r>
                  </m:oMath>
                </a14:m>
                <a:endParaRPr lang="en-US" sz="2400" dirty="0"/>
              </a:p>
              <a:p>
                <a:r>
                  <a:rPr lang="en-US" sz="2400" dirty="0"/>
                  <a:t>Uses a two regions </a:t>
                </a:r>
              </a:p>
              <a:p>
                <a:r>
                  <a:rPr lang="en-US" sz="2400" dirty="0"/>
                  <a:t>Normal region:</a:t>
                </a:r>
              </a:p>
              <a:p>
                <a:pPr lvl="1"/>
                <a:r>
                  <a:rPr lang="en-US" sz="2200" dirty="0"/>
                  <a:t>Exponent in range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∈[</m:t>
                    </m:r>
                    <m:sSup>
                      <m:sSup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1,2</m:t>
                        </m:r>
                      </m:e>
                      <m:sup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−1)</m:t>
                    </m:r>
                  </m:oMath>
                </a14:m>
                <a:endParaRPr lang="en-US" sz="2200" dirty="0"/>
              </a:p>
              <a:p>
                <a:pPr lvl="1"/>
                <a:r>
                  <a:rPr lang="en-US" sz="2200" dirty="0"/>
                  <a:t>In this region: 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</m:e>
                      <m:sup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sup>
                    </m:sSup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𝑚</m:t>
                    </m:r>
                    <m:sSup>
                      <m:sSup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−127</m:t>
                        </m:r>
                      </m:sup>
                    </m:sSup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,  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=1+</m:t>
                    </m:r>
                    <m:f>
                      <m:f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num>
                      <m:den>
                        <m:sSup>
                          <m:sSupPr>
                            <m:ctrlP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p>
                        </m:sSup>
                      </m:den>
                    </m:f>
                  </m:oMath>
                </a14:m>
                <a:endParaRPr lang="en-US" sz="2200" dirty="0"/>
              </a:p>
              <a:p>
                <a:pPr lvl="1"/>
                <a:r>
                  <a:rPr lang="en-US" sz="2200" dirty="0"/>
                  <a:t>The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1 </m:t>
                    </m:r>
                  </m:oMath>
                </a14:m>
                <a:r>
                  <a:rPr lang="en-US" sz="2200" dirty="0"/>
                  <a:t>is as if the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sz="2200" dirty="0"/>
                  <a:t> has an </a:t>
                </a:r>
                <a:r>
                  <a:rPr lang="en-US" sz="22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implicit leading </a:t>
                </a:r>
                <a:r>
                  <a:rPr lang="en-US" sz="2200" dirty="0"/>
                  <a:t>bit of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lang="en-US" sz="2200" dirty="0"/>
              </a:p>
              <a:p>
                <a:pPr lvl="1"/>
                <a:r>
                  <a:rPr lang="en-US" sz="2200" dirty="0"/>
                  <a:t>Note that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∈[1,2)</m:t>
                    </m:r>
                  </m:oMath>
                </a14:m>
                <a:endParaRPr lang="en-US" sz="2200" dirty="0"/>
              </a:p>
              <a:p>
                <a:r>
                  <a:rPr lang="en-US" sz="2400" dirty="0"/>
                  <a:t>Sub-normal region:</a:t>
                </a:r>
              </a:p>
              <a:p>
                <a:pPr lvl="1"/>
                <a:r>
                  <a:rPr lang="en-US" sz="2000" dirty="0"/>
                  <a:t>Exponent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sz="2000" dirty="0"/>
              </a:p>
              <a:p>
                <a:pPr lvl="1"/>
                <a:r>
                  <a:rPr lang="en-US" sz="2000" dirty="0"/>
                  <a:t>In this region: 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𝑠</m:t>
                        </m:r>
                      </m:sup>
                    </m:sSup>
                    <m:f>
                      <m:f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num>
                      <m:den>
                        <m:sSup>
                          <m:sSup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p>
                        </m:sSup>
                      </m:den>
                    </m:f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−126</m:t>
                        </m:r>
                      </m:sup>
                    </m:sSup>
                  </m:oMath>
                </a14:m>
                <a:endParaRPr lang="en-US" sz="2000" b="0" dirty="0"/>
              </a:p>
              <a:p>
                <a:pPr lvl="1"/>
                <a:r>
                  <a:rPr lang="en-US" sz="2000" dirty="0"/>
                  <a:t>Used for small numbers</a:t>
                </a:r>
              </a:p>
              <a:p>
                <a:pPr lvl="1"/>
                <a:endParaRPr lang="en-US" sz="2200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408ADBB-0154-8466-6385-21D2E134310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697" t="-2676" b="-15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CE80EF-79D4-EE60-5073-60EBBA7139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073518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CE255E-CF92-3DD8-538A-4237AE6FED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IEEE 754 Properties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D72F59D-6624-530E-7F0C-CFA391811E3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sz="24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Single precision (FP32</a:t>
                </a:r>
                <a:r>
                  <a:rPr lang="en-US" sz="2400" dirty="0"/>
                  <a:t>):</a:t>
                </a:r>
              </a:p>
              <a:p>
                <a:pPr lvl="1"/>
                <a:r>
                  <a:rPr lang="en-US" sz="2200" dirty="0"/>
                  <a:t>Largest normal 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≈3.4</m:t>
                    </m:r>
                    <m:sSup>
                      <m:sSup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10</m:t>
                            </m:r>
                          </m:e>
                        </m:d>
                      </m:e>
                      <m:sup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38</m:t>
                        </m:r>
                      </m:sup>
                    </m:sSup>
                  </m:oMath>
                </a14:m>
                <a:endParaRPr lang="en-US" sz="2200" b="0" dirty="0"/>
              </a:p>
              <a:p>
                <a:pPr lvl="1"/>
                <a:r>
                  <a:rPr lang="en-US" sz="2200" dirty="0"/>
                  <a:t>Smallest normal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≈1.18</m:t>
                    </m:r>
                    <m:sSup>
                      <m:sSup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10</m:t>
                            </m:r>
                          </m:e>
                        </m:d>
                      </m:e>
                      <m:sup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−38</m:t>
                        </m:r>
                      </m:sup>
                    </m:sSup>
                  </m:oMath>
                </a14:m>
                <a:endParaRPr lang="en-US" sz="2200" b="0" dirty="0"/>
              </a:p>
              <a:p>
                <a:pPr lvl="1"/>
                <a:r>
                  <a:rPr lang="en-US" sz="2200" dirty="0"/>
                  <a:t>Smallest sub-normal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≈</m:t>
                    </m:r>
                    <m:sSup>
                      <m:sSup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10</m:t>
                            </m:r>
                          </m:e>
                        </m:d>
                      </m:e>
                      <m:sup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−45</m:t>
                        </m:r>
                      </m:sup>
                    </m:sSup>
                  </m:oMath>
                </a14:m>
                <a:endParaRPr lang="en-US" sz="2200" dirty="0"/>
              </a:p>
              <a:p>
                <a:pPr lvl="1"/>
                <a:r>
                  <a:rPr lang="en-US" sz="2200" dirty="0"/>
                  <a:t>Vastly greater range than 32-bit integers</a:t>
                </a:r>
              </a:p>
              <a:p>
                <a:r>
                  <a:rPr lang="en-US" sz="24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Double precision (FP64):</a:t>
                </a:r>
              </a:p>
              <a:p>
                <a:pPr lvl="1"/>
                <a:r>
                  <a:rPr lang="en-US" sz="2200" dirty="0"/>
                  <a:t>Largest normal 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</a:rPr>
                      <m:t>≈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1.80</m:t>
                    </m:r>
                    <m:sSup>
                      <m:sSup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10</m:t>
                            </m:r>
                          </m:e>
                        </m:d>
                      </m:e>
                      <m:sup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</m:oMath>
                </a14:m>
                <a:endParaRPr lang="en-US" sz="2200" dirty="0"/>
              </a:p>
              <a:p>
                <a:pPr lvl="1"/>
                <a:r>
                  <a:rPr lang="en-US" sz="2200" dirty="0"/>
                  <a:t>Smallest normal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</a:rPr>
                      <m:t>≈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2.23</m:t>
                    </m:r>
                    <m:sSup>
                      <m:sSup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10</m:t>
                            </m:r>
                          </m:e>
                        </m:d>
                      </m:e>
                      <m:sup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−3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</m:oMath>
                </a14:m>
                <a:endParaRPr lang="en-US" sz="2200" dirty="0"/>
              </a:p>
              <a:p>
                <a:pPr lvl="1"/>
                <a:r>
                  <a:rPr lang="en-US" sz="2200" dirty="0"/>
                  <a:t>Smallest sub-normal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</a:rPr>
                      <m:t>≈</m:t>
                    </m:r>
                    <m:sSup>
                      <m:sSup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5</m:t>
                        </m:r>
                        <m:d>
                          <m:dPr>
                            <m:ctrlPr>
                              <a:rPr lang="en-US" sz="2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10</m:t>
                            </m:r>
                          </m:e>
                        </m:d>
                      </m:e>
                      <m:sup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324</m:t>
                        </m:r>
                      </m:sup>
                    </m:sSup>
                  </m:oMath>
                </a14:m>
                <a:endParaRPr lang="en-US" sz="2200" dirty="0"/>
              </a:p>
              <a:p>
                <a:pPr lvl="1"/>
                <a:endParaRPr lang="en-US" sz="2200" dirty="0"/>
              </a:p>
              <a:p>
                <a:pPr lvl="1"/>
                <a:endParaRPr lang="en-US" sz="22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D72F59D-6624-530E-7F0C-CFA391811E3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697" t="-19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674224-0F59-F23A-666A-B508F82F46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588661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F1B142-DF3F-ADD3-D953-D508660FFB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86CB50-CDE4-5C14-EAB0-C2CB5890DC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Floating Point Addition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B01C1CA-E32C-CE7A-1CA0-0E350348C51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Consider two numbers in normal region (sub-normal performed similarly)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</m:e>
                      <m:sup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sup>
                    </m:sSup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1+</m:t>
                        </m:r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num>
                          <m:den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sup>
                            </m:sSup>
                          </m:den>
                        </m:f>
                      </m:e>
                    </m:d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−127</m:t>
                        </m:r>
                      </m:sup>
                    </m:sSup>
                  </m:oMath>
                </a14:m>
                <a:endParaRPr lang="en-US" dirty="0"/>
              </a:p>
              <a:p>
                <a:r>
                  <a:rPr lang="en-US" dirty="0"/>
                  <a:t>We need the representation for the sum: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sup>
                    </m:sSup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1+</m:t>
                        </m:r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sup>
                            </m:sSup>
                          </m:den>
                        </m:f>
                      </m:e>
                    </m:d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−127</m:t>
                        </m:r>
                      </m:sup>
                    </m:sSup>
                  </m:oMath>
                </a14:m>
                <a:endParaRPr lang="en-US" dirty="0"/>
              </a:p>
              <a:p>
                <a:r>
                  <a:rPr lang="en-US" dirty="0"/>
                  <a:t>WLOG:  Assume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≥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dirty="0"/>
                  <a:t>  For simplicity assume: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 (other cases are similar)</a:t>
                </a:r>
              </a:p>
              <a:p>
                <a:r>
                  <a:rPr lang="en-US" dirty="0"/>
                  <a:t>Then: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−127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, 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≫(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r>
                  <a:rPr lang="en-US" dirty="0"/>
                  <a:t>Value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p>
                    </m:sSup>
                    <m:d>
                      <m:dPr>
                        <m:begChr m:val="[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1,4</m:t>
                        </m:r>
                      </m:e>
                    </m:d>
                  </m:oMath>
                </a14:m>
                <a:endParaRPr lang="en-US" dirty="0"/>
              </a:p>
              <a:p>
                <a:r>
                  <a:rPr lang="en-US" dirty="0"/>
                  <a:t>Since we need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p>
                    </m:sSup>
                    <m:d>
                      <m:dPr>
                        <m:begChr m:val="[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1,2</m:t>
                        </m:r>
                      </m:e>
                    </m:d>
                  </m:oMath>
                </a14:m>
                <a:r>
                  <a:rPr lang="en-US" dirty="0"/>
                  <a:t> for normal numbers, we shift</a:t>
                </a:r>
              </a:p>
              <a:p>
                <a:r>
                  <a:rPr lang="en-US" dirty="0"/>
                  <a:t>If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≥2 </m:t>
                    </m:r>
                  </m:oMath>
                </a14:m>
                <a:r>
                  <a:rPr lang="en-US" dirty="0"/>
                  <a:t> set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←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i="1">
                        <a:latin typeface="Cambria Math" panose="02040503050406030204" pitchFamily="18" charset="0"/>
                      </a:rPr>
                      <m:t>, 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←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en-US" dirty="0"/>
                  <a:t>  otherwise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←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b="0" dirty="0"/>
              </a:p>
              <a:p>
                <a:r>
                  <a:rPr lang="en-US" dirty="0"/>
                  <a:t>Take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B01C1CA-E32C-CE7A-1CA0-0E350348C51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455" t="-15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AF3555-B740-E83E-194A-75A1DC686E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30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260411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CE28C3-7348-E465-C43C-A773F55BA3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Resulting Algorithm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3AF6F9C-607B-8DB0-2ED6-82A787CCC93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US" dirty="0"/>
                  <a:t>Given two numbers: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</m:e>
                      <m:sup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sup>
                    </m:sSup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1+</m:t>
                        </m:r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num>
                          <m:den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sup>
                            </m:sSup>
                          </m:den>
                        </m:f>
                      </m:e>
                    </m:d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−127</m:t>
                        </m:r>
                      </m:sup>
                    </m:sSup>
                  </m:oMath>
                </a14:m>
                <a:r>
                  <a:rPr lang="en-US" dirty="0"/>
                  <a:t>  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≥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US" dirty="0"/>
              </a:p>
              <a:p>
                <a:r>
                  <a:rPr lang="en-US" dirty="0"/>
                  <a:t>Compute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p>
                        </m:sSup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≫(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r>
                  <a:rPr lang="en-US" b="0" dirty="0"/>
                  <a:t>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≥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p>
                    </m:sSup>
                    <m:r>
                      <a:rPr lang="en-US" b="0" i="0" smtClean="0">
                        <a:latin typeface="Cambria Math" panose="02040503050406030204" pitchFamily="18" charset="0"/>
                      </a:rPr>
                      <m:t>:  </m:t>
                    </m:r>
                  </m:oMath>
                </a14:m>
                <a:r>
                  <a:rPr lang="en-US" dirty="0"/>
                  <a:t> set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≫1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, 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←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endParaRPr lang="en-US" b="0" dirty="0"/>
              </a:p>
              <a:p>
                <a:r>
                  <a:rPr lang="en-US" dirty="0"/>
                  <a:t>Else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←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dirty="0"/>
              </a:p>
              <a:p>
                <a:r>
                  <a:rPr lang="en-US" dirty="0"/>
                  <a:t>Set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p>
                    </m:sSup>
                  </m:oMath>
                </a14:m>
                <a:endParaRPr lang="en-US" dirty="0"/>
              </a:p>
              <a:p>
                <a:r>
                  <a:rPr lang="en-US" dirty="0"/>
                  <a:t>Handle overflow and underflow</a:t>
                </a:r>
              </a:p>
              <a:p>
                <a:r>
                  <a:rPr lang="en-US" dirty="0"/>
                  <a:t>Then: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sup>
                    </m:sSup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1+</m:t>
                        </m:r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sup>
                            </m:sSup>
                          </m:den>
                        </m:f>
                      </m:e>
                    </m:d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−127</m:t>
                        </m:r>
                      </m:sup>
                    </m:sSup>
                  </m:oMath>
                </a14:m>
                <a:endParaRPr lang="en-US" dirty="0"/>
              </a:p>
              <a:p>
                <a:r>
                  <a:rPr lang="en-US" dirty="0"/>
                  <a:t>Conclusion:  We can perform addition of two FP numbers</a:t>
                </a:r>
              </a:p>
              <a:p>
                <a:r>
                  <a:rPr lang="en-US" dirty="0"/>
                  <a:t>But requires considerable extra logic for multiple cases and overflow / underflow</a:t>
                </a:r>
                <a:br>
                  <a:rPr lang="en-US" dirty="0"/>
                </a:b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3AF6F9C-607B-8DB0-2ED6-82A787CCC93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455" t="-5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A76E58-DDEE-97D2-023D-64FF226670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31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554368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9590DE-4D17-69CB-FA44-27CAF2207D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E163F5-EB5F-8680-F9F6-AB6958E147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Floating Point Multiplication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4990A88-7A90-BD5F-FBE4-26EB12A7C51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US" dirty="0"/>
                  <a:t>Consider two numbers in normal region (sub-normal performed similarly)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</m:e>
                      <m:sup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sup>
                    </m:sSup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1+</m:t>
                        </m:r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num>
                          <m:den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sup>
                            </m:sSup>
                          </m:den>
                        </m:f>
                      </m:e>
                    </m:d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−127</m:t>
                        </m:r>
                      </m:sup>
                    </m:sSup>
                  </m:oMath>
                </a14:m>
                <a:endParaRPr lang="en-US" dirty="0"/>
              </a:p>
              <a:p>
                <a:r>
                  <a:rPr lang="en-US" dirty="0"/>
                  <a:t>We need the representation for the product: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sup>
                    </m:sSup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1+</m:t>
                        </m:r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sup>
                            </m:sSup>
                          </m:den>
                        </m:f>
                      </m:e>
                    </m:d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−127</m:t>
                        </m:r>
                      </m:sup>
                    </m:sSup>
                  </m:oMath>
                </a14:m>
                <a:endParaRPr lang="en-US" dirty="0"/>
              </a:p>
              <a:p>
                <a:r>
                  <a:rPr lang="en-US" dirty="0"/>
                  <a:t>WLOG:  Assume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≥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dirty="0"/>
                  <a:t> </a:t>
                </a:r>
              </a:p>
              <a:p>
                <a:r>
                  <a:rPr lang="en-US" dirty="0"/>
                  <a:t>Then: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, </m:t>
                    </m:r>
                  </m:oMath>
                </a14:m>
                <a:r>
                  <a:rPr lang="en-US" dirty="0"/>
                  <a:t>where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⊕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(XOR)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−254</m:t>
                    </m:r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1+</m:t>
                        </m:r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num>
                          <m:den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sup>
                            </m:sSup>
                          </m:den>
                        </m:f>
                      </m:e>
                    </m:d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1+</m:t>
                        </m:r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num>
                          <m:den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sup>
                            </m:sSup>
                          </m:den>
                        </m:f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=1+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num>
                      <m:den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p>
                        </m:sSup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, 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+((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)≫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r>
                  <a:rPr lang="en-US" dirty="0"/>
                  <a:t>We need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∈[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0,2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 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≥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p>
                    </m:sSup>
                  </m:oMath>
                </a14:m>
                <a:r>
                  <a:rPr lang="en-US" dirty="0"/>
                  <a:t>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←(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≫1) −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p>
                    </m:sSup>
                  </m:oMath>
                </a14:m>
                <a:r>
                  <a:rPr lang="en-US" dirty="0"/>
                  <a:t> 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endParaRPr lang="en-US" dirty="0"/>
              </a:p>
              <a:p>
                <a:r>
                  <a:rPr lang="en-US" dirty="0"/>
                  <a:t>Handle overflow and underflow</a:t>
                </a:r>
              </a:p>
              <a:p>
                <a:r>
                  <a:rPr lang="en-US" dirty="0"/>
                  <a:t>Can perform multiplication, but requires considerable extra control logic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4990A88-7A90-BD5F-FBE4-26EB12A7C51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455" t="-2113" b="-23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74811C-73AE-E5A7-9CE5-67CBCAE794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32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825209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044ED8-0ED6-7209-3B09-0AD958636A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Comparison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20C2277-BD8F-9FC4-8096-F05F4B88212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chemeClr val="accent1"/>
                    </a:solidFill>
                  </a:rPr>
                  <a:t>Integer 32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dirty="0">
                    <a:solidFill>
                      <a:schemeClr val="accent1"/>
                    </a:solidFill>
                  </a:rPr>
                  <a:t> 32-bit multiplier</a:t>
                </a:r>
              </a:p>
              <a:p>
                <a:pPr lvl="1"/>
                <a:r>
                  <a:rPr lang="en-US" dirty="0"/>
                  <a:t>Implementation requires just the product:  64-bit result</a:t>
                </a:r>
              </a:p>
              <a:p>
                <a:r>
                  <a:rPr lang="en-US" dirty="0">
                    <a:solidFill>
                      <a:schemeClr val="accent1"/>
                    </a:solidFill>
                  </a:rPr>
                  <a:t>FP32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dirty="0">
                    <a:solidFill>
                      <a:schemeClr val="accent1"/>
                    </a:solidFill>
                  </a:rPr>
                  <a:t> FP32 multiplier</a:t>
                </a:r>
              </a:p>
              <a:p>
                <a:pPr lvl="1"/>
                <a:r>
                  <a:rPr lang="en-US" dirty="0"/>
                  <a:t>Significand multiply: 24×24 → 48‑bit product (including hidden bit).</a:t>
                </a:r>
              </a:p>
              <a:p>
                <a:pPr lvl="1"/>
                <a:r>
                  <a:rPr lang="en-US" dirty="0"/>
                  <a:t>Exponent path: add exponents, subtract bias, detect overflow/underflow.</a:t>
                </a:r>
              </a:p>
              <a:p>
                <a:pPr lvl="1"/>
                <a:r>
                  <a:rPr lang="en-US" dirty="0"/>
                  <a:t>Normalization: possible shift + exponent adjust.</a:t>
                </a:r>
              </a:p>
              <a:p>
                <a:pPr lvl="1"/>
                <a:r>
                  <a:rPr lang="en-US" dirty="0"/>
                  <a:t>Rounding: guard/round/sticky bits, increment logic, possible renormalization.</a:t>
                </a:r>
              </a:p>
              <a:p>
                <a:pPr lvl="1"/>
                <a:r>
                  <a:rPr lang="en-US" dirty="0"/>
                  <a:t>Special cases: zeros, </a:t>
                </a:r>
                <a:r>
                  <a:rPr lang="en-US" dirty="0" err="1"/>
                  <a:t>subnormals</a:t>
                </a:r>
                <a:r>
                  <a:rPr lang="en-US" dirty="0"/>
                  <a:t>, infinities, </a:t>
                </a:r>
                <a:r>
                  <a:rPr lang="en-US" dirty="0" err="1"/>
                  <a:t>NaNs</a:t>
                </a:r>
                <a:r>
                  <a:rPr lang="en-US" dirty="0"/>
                  <a:t>, sign rules.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20C2277-BD8F-9FC4-8096-F05F4B88212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455" t="-15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F149FC-B321-FFBA-5916-3EB56826C3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33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: Rounded Corners 5">
                <a:extLst>
                  <a:ext uri="{FF2B5EF4-FFF2-40B4-BE49-F238E27FC236}">
                    <a16:creationId xmlns:a16="http://schemas.microsoft.com/office/drawing/2014/main" id="{A4E5952B-3A6A-1C53-4C18-BCFEAA59F4BC}"/>
                  </a:ext>
                </a:extLst>
              </p:cNvPr>
              <p:cNvSpPr/>
              <p:nvPr/>
            </p:nvSpPr>
            <p:spPr>
              <a:xfrm>
                <a:off x="1928336" y="4719636"/>
                <a:ext cx="8139589" cy="676275"/>
              </a:xfrm>
              <a:prstGeom prst="round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solidFill>
                      <a:schemeClr val="accent1"/>
                    </a:solidFill>
                  </a:rPr>
                  <a:t>FP multiplication typically takes 2 to 4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sz="2400" dirty="0">
                    <a:solidFill>
                      <a:schemeClr val="accent1"/>
                    </a:solidFill>
                  </a:rPr>
                  <a:t> complexity</a:t>
                </a:r>
              </a:p>
            </p:txBody>
          </p:sp>
        </mc:Choice>
        <mc:Fallback xmlns="">
          <p:sp>
            <p:nvSpPr>
              <p:cNvPr id="6" name="Rectangle: Rounded Corners 5">
                <a:extLst>
                  <a:ext uri="{FF2B5EF4-FFF2-40B4-BE49-F238E27FC236}">
                    <a16:creationId xmlns:a16="http://schemas.microsoft.com/office/drawing/2014/main" id="{A4E5952B-3A6A-1C53-4C18-BCFEAA59F4B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28336" y="4719636"/>
                <a:ext cx="8139589" cy="676275"/>
              </a:xfrm>
              <a:prstGeom prst="roundRect">
                <a:avLst/>
              </a:prstGeom>
              <a:blipFill>
                <a:blip r:embed="rId3"/>
                <a:stretch>
                  <a:fillRect b="-2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8921255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F94704-9459-23A2-25FA-78D60666BF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B2BE22-459D-2BA4-B00D-A8325573BA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4C8E8B-5D2C-E559-BAE6-02890D4F9F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Integers, Truncation, and Overflows</a:t>
            </a:r>
          </a:p>
          <a:p>
            <a:r>
              <a:rPr lang="en-US" sz="2400" dirty="0"/>
              <a:t>Floating Point Numbers</a:t>
            </a:r>
          </a:p>
          <a:p>
            <a:r>
              <a:rPr lang="en-US" sz="2400" dirty="0"/>
              <a:t>Fixed Point Numbers</a:t>
            </a:r>
          </a:p>
          <a:p>
            <a:r>
              <a:rPr lang="en-US" sz="2400" dirty="0"/>
              <a:t>Mapping Floating to Fixed Point in Python</a:t>
            </a:r>
          </a:p>
          <a:p>
            <a:r>
              <a:rPr lang="en-US" sz="2400" dirty="0"/>
              <a:t>System Verilog Implementation</a:t>
            </a:r>
          </a:p>
          <a:p>
            <a:endParaRPr lang="en-US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B2CB74-A653-7AA7-4DD7-222C81A1D2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34</a:t>
            </a:fld>
            <a:endParaRPr lang="en-US" dirty="0"/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F05DB139-9486-78E8-F021-1C982B10CF9D}"/>
              </a:ext>
            </a:extLst>
          </p:cNvPr>
          <p:cNvSpPr/>
          <p:nvPr/>
        </p:nvSpPr>
        <p:spPr>
          <a:xfrm>
            <a:off x="363847" y="2485388"/>
            <a:ext cx="938784" cy="484632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347855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D441F2-BF89-0CCD-4044-51F41F6A5C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Integers vs. Floating Point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E30E49-A159-1507-4FB6-5FF8AEC024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I</a:t>
            </a:r>
            <a:r>
              <a:rPr lang="en-US" sz="2400" dirty="0">
                <a:solidFill>
                  <a:schemeClr val="accent1"/>
                </a:solidFill>
              </a:rPr>
              <a:t>ntegers</a:t>
            </a:r>
            <a:r>
              <a:rPr lang="en-US" sz="2400" dirty="0"/>
              <a:t>:</a:t>
            </a:r>
          </a:p>
          <a:p>
            <a:pPr lvl="1"/>
            <a:r>
              <a:rPr lang="en-US" sz="2200" dirty="0"/>
              <a:t>Pro:  Easy arithmetic.  No extra bits for exponent</a:t>
            </a:r>
          </a:p>
          <a:p>
            <a:pPr lvl="1"/>
            <a:r>
              <a:rPr lang="en-US" sz="2200" dirty="0"/>
              <a:t>Cons:  Do not natively handle fractional components.</a:t>
            </a:r>
          </a:p>
          <a:p>
            <a:pPr lvl="1"/>
            <a:r>
              <a:rPr lang="en-US" sz="2200" dirty="0"/>
              <a:t>Cons: Limited dynamic range</a:t>
            </a:r>
          </a:p>
          <a:p>
            <a:r>
              <a:rPr lang="en-US" sz="2400" dirty="0">
                <a:solidFill>
                  <a:schemeClr val="accent1"/>
                </a:solidFill>
              </a:rPr>
              <a:t>Floating point:</a:t>
            </a:r>
          </a:p>
          <a:p>
            <a:pPr lvl="1"/>
            <a:r>
              <a:rPr lang="en-US" sz="2200" dirty="0"/>
              <a:t>Pro:  Large dynamic range, handles fractional components</a:t>
            </a:r>
          </a:p>
          <a:p>
            <a:pPr lvl="1"/>
            <a:r>
              <a:rPr lang="en-US" sz="2200" dirty="0"/>
              <a:t>Cons:  Arithmetic is harder, some loss of precision to store exponent</a:t>
            </a:r>
          </a:p>
          <a:p>
            <a:r>
              <a:rPr lang="en-US" sz="2400" dirty="0"/>
              <a:t>Is there a way to handle fractions without increased computation overhead?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EF5D3F-4FF9-D5FA-91F2-B69E5B483C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35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442921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150664-FE95-3763-0E4C-9A858481E7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Fixed Point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1A06F56-7C9B-EF52-7879-E95785E68D4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sz="2400" dirty="0">
                    <a:solidFill>
                      <a:schemeClr val="tx2">
                        <a:lumMod val="60000"/>
                        <a:lumOff val="40000"/>
                      </a:schemeClr>
                    </a:solidFill>
                  </a:rPr>
                  <a:t>Floating point</a:t>
                </a:r>
                <a:r>
                  <a:rPr lang="en-US" sz="2400" dirty="0"/>
                  <a:t>:  use a </a:t>
                </a:r>
                <a:r>
                  <a:rPr lang="en-US" sz="2400" dirty="0">
                    <a:solidFill>
                      <a:srgbClr val="00B050"/>
                    </a:solidFill>
                  </a:rPr>
                  <a:t>mantissa</a:t>
                </a:r>
                <a:r>
                  <a:rPr lang="en-US" sz="2400" dirty="0"/>
                  <a:t> and </a:t>
                </a:r>
                <a:r>
                  <a:rPr lang="en-US" sz="2400" dirty="0">
                    <a:solidFill>
                      <a:schemeClr val="accent5">
                        <a:lumMod val="75000"/>
                      </a:schemeClr>
                    </a:solidFill>
                  </a:rPr>
                  <a:t>exponent</a:t>
                </a:r>
                <a:r>
                  <a:rPr lang="en-US" sz="2400" dirty="0"/>
                  <a:t>:</a:t>
                </a:r>
                <a:br>
                  <a:rPr lang="en-US" sz="2400" dirty="0"/>
                </a:br>
                <a:br>
                  <a:rPr lang="en-US" sz="2400" dirty="0"/>
                </a:b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24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p>
                    </m:sSup>
                  </m:oMath>
                </a14:m>
                <a:endParaRPr lang="en-US" sz="2400" dirty="0"/>
              </a:p>
              <a:p>
                <a:pPr lvl="1"/>
                <a:r>
                  <a:rPr lang="en-US" sz="2200" dirty="0"/>
                  <a:t>Both mantissa and exponent are variables</a:t>
                </a:r>
              </a:p>
              <a:p>
                <a:pPr lvl="1"/>
                <a:r>
                  <a:rPr lang="en-US" sz="2200" dirty="0"/>
                  <a:t>Gives large dynamic range, but makes arithmetic more complex</a:t>
                </a:r>
              </a:p>
              <a:p>
                <a:r>
                  <a:rPr lang="en-US" sz="2400" dirty="0">
                    <a:solidFill>
                      <a:schemeClr val="tx2">
                        <a:lumMod val="60000"/>
                        <a:lumOff val="40000"/>
                      </a:schemeClr>
                    </a:solidFill>
                  </a:rPr>
                  <a:t>Fixed point</a:t>
                </a:r>
                <a:r>
                  <a:rPr lang="en-US" sz="2400" dirty="0"/>
                  <a:t>:  Key idea</a:t>
                </a:r>
                <a:r>
                  <a:rPr lang="en-US" sz="2200" dirty="0"/>
                  <a:t>:  Fix the exponent</a:t>
                </a:r>
                <a:br>
                  <a:rPr lang="en-US" sz="2200" dirty="0"/>
                </a:br>
                <a:br>
                  <a:rPr lang="en-US" sz="2200" dirty="0"/>
                </a:b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sz="22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2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22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2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 lang="en-US" sz="2200" dirty="0"/>
              </a:p>
              <a:p>
                <a:pPr lvl="1"/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US" sz="2000" dirty="0"/>
                  <a:t> is a standard integer  with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sz="2000" dirty="0"/>
                  <a:t> bits</a:t>
                </a:r>
              </a:p>
              <a:p>
                <a:pPr lvl="1"/>
                <a:r>
                  <a:rPr lang="en-US" sz="2000" dirty="0"/>
                  <a:t>Scale factor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sz="2000" dirty="0"/>
                  <a:t> is </a:t>
                </a:r>
                <a:r>
                  <a:rPr lang="en-US" sz="20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fixed</a:t>
                </a:r>
                <a:r>
                  <a:rPr lang="en-US" sz="2000" dirty="0"/>
                  <a:t>, not variable.  Does not need to be stored or manipulated</a:t>
                </a:r>
              </a:p>
              <a:p>
                <a:pPr lvl="1"/>
                <a:r>
                  <a:rPr lang="en-US" sz="2000" dirty="0"/>
                  <a:t>Allows fractional values. 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1A06F56-7C9B-EF52-7879-E95785E68D4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697" t="-19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1C6A20-B63D-02E5-3598-B49BB2BA3B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36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317860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B2E6FE-3249-FBB7-3CE1-D3BAF2A360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Fixed Point Q Notation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7CAC004-21C7-FA85-3B17-7CA9F679A09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𝑄𝑚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400" dirty="0"/>
                  <a:t> and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𝑈𝑄𝑚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400" dirty="0"/>
                  <a:t> :  Standard fixed-point representation 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sz="2000" dirty="0"/>
                  <a:t>:  number of integer bits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000" dirty="0"/>
                  <a:t> : number of fractional bits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𝑄𝑚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000" dirty="0"/>
                  <a:t> = signed values, 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𝑈𝑄𝑚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dirty="0"/>
                  <a:t>: unsigned values</a:t>
                </a:r>
              </a:p>
              <a:p>
                <a:r>
                  <a:rPr lang="en-US" sz="2400" dirty="0"/>
                  <a:t>Each element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𝑄𝑚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400" dirty="0"/>
                  <a:t> is simply a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400" dirty="0"/>
                  <a:t> integer,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endParaRPr lang="en-US" sz="2400" dirty="0"/>
              </a:p>
              <a:p>
                <a:pPr lvl="1"/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US" sz="2200" dirty="0"/>
                  <a:t> is called the </a:t>
                </a:r>
                <a:r>
                  <a:rPr lang="en-US" sz="22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integer representation</a:t>
                </a:r>
              </a:p>
              <a:p>
                <a:r>
                  <a:rPr lang="en-US" sz="2400" dirty="0"/>
                  <a:t>Corresponds to a real-valued number:</a:t>
                </a:r>
                <a:br>
                  <a:rPr lang="en-US" sz="2400" dirty="0"/>
                </a:br>
                <a:br>
                  <a:rPr lang="en-US" sz="2400" dirty="0"/>
                </a:b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𝑓𝑙𝑜𝑎𝑡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𝑞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7CAC004-21C7-FA85-3B17-7CA9F679A09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697" t="-19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8AEE93-F2B6-0F67-C027-EC6146EC6B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37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437059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B88AE0-668F-0725-4BAB-C955077717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AEC6D5D-F7C7-C49A-CB23-0960D5A4895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97280" y="1539277"/>
                <a:ext cx="5060041" cy="4329817"/>
              </a:xfrm>
            </p:spPr>
            <p:txBody>
              <a:bodyPr/>
              <a:lstStyle/>
              <a:p>
                <a:r>
                  <a:rPr lang="en-US" dirty="0"/>
                  <a:t>Take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endParaRPr lang="en-US" dirty="0"/>
              </a:p>
              <a:p>
                <a:r>
                  <a:rPr lang="en-US" dirty="0"/>
                  <a:t>Find closest approximation with: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=3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varies</a:t>
                </a:r>
              </a:p>
              <a:p>
                <a:r>
                  <a:rPr lang="en-US" dirty="0"/>
                  <a:t>Table shows:</a:t>
                </a:r>
              </a:p>
              <a:p>
                <a:pPr lvl="1"/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US" dirty="0"/>
                  <a:t> value (</a:t>
                </a:r>
                <a:r>
                  <a:rPr lang="en-US" dirty="0" err="1"/>
                  <a:t>qbits</a:t>
                </a:r>
                <a:r>
                  <a:rPr lang="en-US" dirty="0"/>
                  <a:t>):  integer representation</a:t>
                </a:r>
              </a:p>
              <a:p>
                <a:pPr lvl="1"/>
                <a:r>
                  <a:rPr lang="en-US" dirty="0"/>
                  <a:t>Floating point value: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𝑞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 lang="en-US" dirty="0"/>
              </a:p>
              <a:p>
                <a:r>
                  <a:rPr lang="en-US" dirty="0"/>
                  <a:t>We see as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increases:</a:t>
                </a:r>
              </a:p>
              <a:p>
                <a:pPr lvl="1"/>
                <a:r>
                  <a:rPr lang="en-US" dirty="0"/>
                  <a:t>More accurate representation</a:t>
                </a:r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AEC6D5D-F7C7-C49A-CB23-0960D5A4895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97280" y="1539277"/>
                <a:ext cx="5060041" cy="4329817"/>
              </a:xfrm>
              <a:blipFill>
                <a:blip r:embed="rId2"/>
                <a:stretch>
                  <a:fillRect l="-2892" t="-15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4273FD-92F8-1EE8-989E-7C26A204EE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38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A2CCB27-E6F6-DC0F-E572-A91685C50E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9218" y="2225382"/>
            <a:ext cx="4481029" cy="2709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422891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3258DB-A764-B50A-FFA8-1CB0B8938D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Properties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166D4B4-FACC-5AED-F3BE-D1D3FAF9965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Suppose that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𝑈𝑄𝑚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or </a:t>
                </a:r>
                <a14:m>
                  <m:oMath xmlns:m="http://schemas.openxmlformats.org/officeDocument/2006/math">
                    <a:fld id="{825F15A7-03F4-43D7-82C5-3E23DA2F108C}" type="mathplaceholder">
                      <a:rPr lang="en-US" i="1" smtClean="0">
                        <a:latin typeface="Cambria Math" panose="02040503050406030204" pitchFamily="18" charset="0"/>
                      </a:rPr>
                      <a:t>Type equation here.</a:t>
                    </a:fld>
                  </m:oMath>
                </a14:m>
                <a:endParaRPr lang="en-US" dirty="0"/>
              </a:p>
              <a:p>
                <a:r>
                  <a:rPr lang="en-US" dirty="0"/>
                  <a:t>Total number of bits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n-US" b="0" dirty="0"/>
              </a:p>
              <a:p>
                <a:r>
                  <a:rPr lang="en-US" dirty="0"/>
                  <a:t>Range: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𝑄𝑚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⇒ 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</m:e>
                    </m:d>
                  </m:oMath>
                </a14:m>
                <a:endParaRPr lang="en-US" b="0" dirty="0"/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𝑈𝑄𝑚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∈[0, 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r>
                  <a:rPr lang="en-US" dirty="0"/>
                  <a:t>Resolution:  Minimum positive number: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 lang="en-US" b="0" dirty="0"/>
              </a:p>
              <a:p>
                <a:r>
                  <a:rPr lang="en-US" dirty="0"/>
                  <a:t>Dynamic range: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𝑄𝑚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 :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D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= 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fName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sSup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sup>
                                </m:sSup>
                              </m:num>
                              <m:den>
                                <m:sSup>
                                  <m:sSup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p>
                                </m:sSup>
                              </m:den>
                            </m:f>
                          </m:e>
                        </m:d>
                      </m:e>
                    </m:func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−1=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dirty="0"/>
                  <a:t> bits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𝑈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D</m:t>
                    </m:r>
                    <m:r>
                      <a:rPr lang="en-US">
                        <a:latin typeface="Cambria Math" panose="02040503050406030204" pitchFamily="18" charset="0"/>
                      </a:rPr>
                      <m:t>= </m:t>
                    </m:r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fName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sSup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sup>
                                </m:sSup>
                              </m:num>
                              <m:den>
                                <m:sSup>
                                  <m:sSup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p>
                                </m:sSup>
                              </m:den>
                            </m:f>
                          </m:e>
                        </m:d>
                      </m:e>
                    </m:func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dirty="0"/>
                  <a:t> bits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166D4B4-FACC-5AED-F3BE-D1D3FAF9965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455" t="-15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5AE125-6F38-CD42-34F8-4CADC934EC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39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840957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85CF86-8814-2AAC-91BF-230F55A13A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Arithmetic Operations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7C218F9-7AD1-6930-F0B0-C691D390306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Suppose that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are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𝑄𝑚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bit representations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Assume they are the same parameters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for now</a:t>
                </a:r>
              </a:p>
              <a:p>
                <a:r>
                  <a:rPr lang="en-US" dirty="0"/>
                  <a:t>Addition:  </a:t>
                </a:r>
                <a:endParaRPr lang="en-US" b="0" i="1" dirty="0">
                  <a:latin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dirty="0"/>
                  <a:t>  with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Addition of numeric values = Addition of the integer representations</a:t>
                </a:r>
              </a:p>
              <a:p>
                <a:r>
                  <a:rPr lang="en-US" dirty="0"/>
                  <a:t>Multiplication: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US" dirty="0"/>
                  <a:t> with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≫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Multiplication of the numerical values = multiplication of integer values with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≫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n-US" dirty="0"/>
              </a:p>
              <a:p>
                <a:r>
                  <a:rPr lang="en-US" dirty="0"/>
                  <a:t>Same overflow rules as integers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7C218F9-7AD1-6930-F0B0-C691D390306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455" t="-15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83D064-20AA-31C4-B649-966F7ECE82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40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350680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2C5E16-653C-AF3A-B5BE-20A61996EA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Problem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E7FBDC-3FCC-1C07-0F46-93199F0936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41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F58DB43-3451-B760-4324-01CBC04C61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523939"/>
            <a:ext cx="10162622" cy="33385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473347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88BD9F-E31C-E26C-51D1-C2CDE38131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Solution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627174-1834-9BF4-955C-86486CECC6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42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E87C39E-BCC8-332D-48C8-5CE96491F3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0192" y="1542794"/>
            <a:ext cx="9451615" cy="4240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42594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293E2-DEC7-DB64-8029-A30C9162C7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 Casting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C1D2DD4-271B-FA8E-3620-1EF0896465C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Suppose that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 in the bit representation in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𝑄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.  </a:t>
                </a:r>
              </a:p>
              <a:p>
                <a:r>
                  <a:rPr lang="en-US" dirty="0"/>
                  <a:t>We want to convert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𝑄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i="1" dirty="0"/>
              </a:p>
              <a:p>
                <a:r>
                  <a:rPr lang="en-US" dirty="0"/>
                  <a:t>Since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sup>
                        </m:sSup>
                      </m:e>
                    </m:d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sup>
                    </m:sSup>
                  </m:oMath>
                </a14:m>
                <a:r>
                  <a:rPr lang="en-US" dirty="0"/>
                  <a:t> 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sup>
                    </m:sSup>
                  </m:oMath>
                </a14:m>
                <a:endParaRPr lang="en-US" dirty="0"/>
              </a:p>
              <a:p>
                <a:r>
                  <a:rPr lang="en-US" dirty="0"/>
                  <a:t>Implementable with left shift by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 or right shift by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dirty="0"/>
              </a:p>
              <a:p>
                <a:r>
                  <a:rPr lang="en-US" dirty="0"/>
                  <a:t>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≥0, </m:t>
                    </m:r>
                  </m:oMath>
                </a14:m>
                <a:r>
                  <a:rPr lang="en-US" dirty="0"/>
                  <a:t> will overflow when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≥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endParaRPr lang="en-US" dirty="0"/>
              </a:p>
              <a:p>
                <a:r>
                  <a:rPr lang="en-US" dirty="0"/>
                  <a:t>Overflow can only occur when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:</a:t>
                </a:r>
              </a:p>
              <a:p>
                <a:pPr lvl="1"/>
                <a:r>
                  <a:rPr lang="en-US" dirty="0"/>
                  <a:t>Why?  Suppose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≥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Since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≤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b="0" i="0" smtClean="0">
                        <a:latin typeface="Cambria Math" panose="02040503050406030204" pitchFamily="18" charset="0"/>
                      </a:rPr>
                      <m:t>,   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≤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−1 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≤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US" dirty="0"/>
                  <a:t> No overflow</a:t>
                </a:r>
              </a:p>
              <a:p>
                <a:r>
                  <a:rPr lang="en-US" dirty="0"/>
                  <a:t>However changing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 may change precision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C1D2DD4-271B-FA8E-3620-1EF0896465C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455" t="-15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D86E8F-0DEB-EE9D-DDE9-4001DB3F55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43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204848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634F45-2868-5A3C-ADB5-985F021A19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Comparison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Content Placeholder 4">
                <a:extLst>
                  <a:ext uri="{FF2B5EF4-FFF2-40B4-BE49-F238E27FC236}">
                    <a16:creationId xmlns:a16="http://schemas.microsoft.com/office/drawing/2014/main" id="{6C84941F-08EE-939F-2553-51843D495F17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678307260"/>
                  </p:ext>
                </p:extLst>
              </p:nvPr>
            </p:nvGraphicFramePr>
            <p:xfrm>
              <a:off x="1096963" y="1539875"/>
              <a:ext cx="10058400" cy="29260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514600">
                      <a:extLst>
                        <a:ext uri="{9D8B030D-6E8A-4147-A177-3AD203B41FA5}">
                          <a16:colId xmlns:a16="http://schemas.microsoft.com/office/drawing/2014/main" val="1266401732"/>
                        </a:ext>
                      </a:extLst>
                    </a:gridCol>
                    <a:gridCol w="2514600">
                      <a:extLst>
                        <a:ext uri="{9D8B030D-6E8A-4147-A177-3AD203B41FA5}">
                          <a16:colId xmlns:a16="http://schemas.microsoft.com/office/drawing/2014/main" val="3815022924"/>
                        </a:ext>
                      </a:extLst>
                    </a:gridCol>
                    <a:gridCol w="2514600">
                      <a:extLst>
                        <a:ext uri="{9D8B030D-6E8A-4147-A177-3AD203B41FA5}">
                          <a16:colId xmlns:a16="http://schemas.microsoft.com/office/drawing/2014/main" val="310807033"/>
                        </a:ext>
                      </a:extLst>
                    </a:gridCol>
                    <a:gridCol w="2514600">
                      <a:extLst>
                        <a:ext uri="{9D8B030D-6E8A-4147-A177-3AD203B41FA5}">
                          <a16:colId xmlns:a16="http://schemas.microsoft.com/office/drawing/2014/main" val="85413913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2400" dirty="0"/>
                            <a:t>Property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b="1" i="0" dirty="0">
                              <a:latin typeface="+mn-lt"/>
                            </a:rPr>
                            <a:t>32-bit integer</a:t>
                          </a:r>
                        </a:p>
                        <a:p>
                          <a14:m>
                            <m:oMath xmlns:m="http://schemas.openxmlformats.org/officeDocument/2006/math">
                              <m:r>
                                <a:rPr lang="en-US" sz="2400" b="1" i="1" smtClean="0">
                                  <a:latin typeface="Cambria Math" panose="02040503050406030204" pitchFamily="18" charset="0"/>
                                </a:rPr>
                                <m:t>𝑰</m:t>
                              </m:r>
                              <m:r>
                                <a:rPr lang="en-US" sz="2400" b="1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2400" b="1" i="1" smtClean="0">
                                  <a:latin typeface="Cambria Math" panose="02040503050406030204" pitchFamily="18" charset="0"/>
                                </a:rPr>
                                <m:t>𝟑𝟐</m:t>
                              </m:r>
                              <m:r>
                                <a:rPr lang="en-US" sz="2400" b="1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r>
                            <a:rPr lang="en-US" sz="2400" dirty="0"/>
                            <a:t>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/>
                            <a:t>32-bit floating point</a:t>
                          </a:r>
                          <a:br>
                            <a:rPr lang="en-US" sz="2400" dirty="0"/>
                          </a:br>
                          <a:r>
                            <a:rPr lang="en-US" sz="2400" dirty="0"/>
                            <a:t>FP32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m:rPr>
                                  <m:nor/>
                                </m:rPr>
                                <a:rPr lang="en-US" sz="2400" b="1" i="0" dirty="0" smtClean="0">
                                  <a:latin typeface="+mn-lt"/>
                                </a:rPr>
                                <m:t>32−</m:t>
                              </m:r>
                              <m:r>
                                <m:rPr>
                                  <m:nor/>
                                </m:rPr>
                                <a:rPr lang="en-US" sz="2400" b="1" i="0" dirty="0" smtClean="0">
                                  <a:latin typeface="+mn-lt"/>
                                </a:rPr>
                                <m:t>bit</m:t>
                              </m:r>
                              <m:r>
                                <m:rPr>
                                  <m:nor/>
                                </m:rPr>
                                <a:rPr lang="en-US" sz="2400" b="1" i="0" dirty="0" smtClean="0">
                                  <a:latin typeface="+mn-lt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sz="2400" b="1" i="0" dirty="0" smtClean="0">
                                  <a:latin typeface="+mn-lt"/>
                                </a:rPr>
                                <m:t>fixed</m:t>
                              </m:r>
                              <m:r>
                                <m:rPr>
                                  <m:nor/>
                                </m:rPr>
                                <a:rPr lang="en-US" sz="2400" b="1" i="0" dirty="0" smtClean="0">
                                  <a:latin typeface="+mn-lt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sz="2400" b="1" i="0" dirty="0" smtClean="0">
                                  <a:latin typeface="+mn-lt"/>
                                </a:rPr>
                                <m:t>point</m:t>
                              </m:r>
                            </m:oMath>
                          </a14:m>
                          <a:r>
                            <a:rPr lang="en-US" sz="2400" b="1" i="1" dirty="0">
                              <a:latin typeface="Cambria Math" panose="02040503050406030204" pitchFamily="18" charset="0"/>
                            </a:rPr>
                            <a:t> </a:t>
                          </a:r>
                        </a:p>
                        <a:p>
                          <a14:m>
                            <m:oMath xmlns:m="http://schemas.openxmlformats.org/officeDocument/2006/math">
                              <m:r>
                                <a:rPr lang="en-US" sz="2400" b="1" i="1" smtClean="0">
                                  <a:latin typeface="Cambria Math" panose="02040503050406030204" pitchFamily="18" charset="0"/>
                                </a:rPr>
                                <m:t>𝑸𝒎</m:t>
                              </m:r>
                              <m:r>
                                <a:rPr lang="en-US" sz="2400" b="1" i="1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n-US" sz="2400" b="1" i="1" smtClean="0"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  <m:r>
                                <a:rPr lang="en-US" sz="2400" b="1" i="1" smtClean="0">
                                  <a:latin typeface="Cambria Math" panose="02040503050406030204" pitchFamily="18" charset="0"/>
                                </a:rPr>
                                <m:t>,  </m:t>
                              </m:r>
                            </m:oMath>
                          </a14:m>
                          <a:r>
                            <a:rPr lang="en-US" sz="2400" dirty="0"/>
                            <a:t> </a:t>
                          </a:r>
                          <a:br>
                            <a:rPr lang="en-US" sz="2400" dirty="0"/>
                          </a:br>
                          <a14:m>
                            <m:oMath xmlns:m="http://schemas.openxmlformats.org/officeDocument/2006/math">
                              <m:r>
                                <a:rPr lang="en-US" sz="2400" b="1" i="1" smtClean="0">
                                  <a:latin typeface="Cambria Math" panose="02040503050406030204" pitchFamily="18" charset="0"/>
                                </a:rPr>
                                <m:t>𝒎</m:t>
                              </m:r>
                              <m:r>
                                <a:rPr lang="en-US" sz="2400" b="1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2400" b="1" i="1" smtClean="0"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  <m:r>
                                <a:rPr lang="en-US" sz="2400" b="1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sz="2400" b="1" i="1" smtClean="0">
                                  <a:latin typeface="Cambria Math" panose="02040503050406030204" pitchFamily="18" charset="0"/>
                                </a:rPr>
                                <m:t>𝟑𝟐</m:t>
                              </m:r>
                            </m:oMath>
                          </a14:m>
                          <a:r>
                            <a:rPr lang="en-US" sz="2400" dirty="0"/>
                            <a:t> 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2496866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2400" dirty="0"/>
                            <a:t>Complexity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/>
                            <a:t>Easy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/>
                            <a:t>Moderately hard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/>
                            <a:t>Easy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2543254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2400" dirty="0"/>
                            <a:t>Can handle fractional values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/>
                            <a:t>No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/>
                            <a:t>Yes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/>
                            <a:t>Yes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00720421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2400" dirty="0"/>
                            <a:t>Dynamic range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/>
                            <a:t>Low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/>
                            <a:t>High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/>
                            <a:t>Low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5626605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Content Placeholder 4">
                <a:extLst>
                  <a:ext uri="{FF2B5EF4-FFF2-40B4-BE49-F238E27FC236}">
                    <a16:creationId xmlns:a16="http://schemas.microsoft.com/office/drawing/2014/main" id="{6C84941F-08EE-939F-2553-51843D495F17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678307260"/>
                  </p:ext>
                </p:extLst>
              </p:nvPr>
            </p:nvGraphicFramePr>
            <p:xfrm>
              <a:off x="1096963" y="1539875"/>
              <a:ext cx="10058400" cy="29260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514600">
                      <a:extLst>
                        <a:ext uri="{9D8B030D-6E8A-4147-A177-3AD203B41FA5}">
                          <a16:colId xmlns:a16="http://schemas.microsoft.com/office/drawing/2014/main" val="1266401732"/>
                        </a:ext>
                      </a:extLst>
                    </a:gridCol>
                    <a:gridCol w="2514600">
                      <a:extLst>
                        <a:ext uri="{9D8B030D-6E8A-4147-A177-3AD203B41FA5}">
                          <a16:colId xmlns:a16="http://schemas.microsoft.com/office/drawing/2014/main" val="3815022924"/>
                        </a:ext>
                      </a:extLst>
                    </a:gridCol>
                    <a:gridCol w="2514600">
                      <a:extLst>
                        <a:ext uri="{9D8B030D-6E8A-4147-A177-3AD203B41FA5}">
                          <a16:colId xmlns:a16="http://schemas.microsoft.com/office/drawing/2014/main" val="310807033"/>
                        </a:ext>
                      </a:extLst>
                    </a:gridCol>
                    <a:gridCol w="2514600">
                      <a:extLst>
                        <a:ext uri="{9D8B030D-6E8A-4147-A177-3AD203B41FA5}">
                          <a16:colId xmlns:a16="http://schemas.microsoft.com/office/drawing/2014/main" val="854139139"/>
                        </a:ext>
                      </a:extLst>
                    </a:gridCol>
                  </a:tblGrid>
                  <a:tr h="1188720">
                    <a:tc>
                      <a:txBody>
                        <a:bodyPr/>
                        <a:lstStyle/>
                        <a:p>
                          <a:r>
                            <a:rPr lang="en-US" sz="2400" dirty="0"/>
                            <a:t>Property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0242" t="-3590" r="-200969" b="-15846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/>
                            <a:t>32-bit floating point</a:t>
                          </a:r>
                          <a:br>
                            <a:rPr lang="en-US" sz="2400" dirty="0"/>
                          </a:br>
                          <a:r>
                            <a:rPr lang="en-US" sz="2400" dirty="0"/>
                            <a:t>FP32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00000" t="-3590" r="-1211" b="-15846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24968668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r>
                            <a:rPr lang="en-US" sz="2400" dirty="0"/>
                            <a:t>Complexity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/>
                            <a:t>Easy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/>
                            <a:t>Moderately hard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/>
                            <a:t>Easy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25432549"/>
                      </a:ext>
                    </a:extLst>
                  </a:tr>
                  <a:tr h="822960">
                    <a:tc>
                      <a:txBody>
                        <a:bodyPr/>
                        <a:lstStyle/>
                        <a:p>
                          <a:r>
                            <a:rPr lang="en-US" sz="2400" dirty="0"/>
                            <a:t>Can handle fractional values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/>
                            <a:t>No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/>
                            <a:t>Yes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/>
                            <a:t>Yes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007204219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r>
                            <a:rPr lang="en-US" sz="2400" dirty="0"/>
                            <a:t>Dynamic range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/>
                            <a:t>Low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/>
                            <a:t>High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/>
                            <a:t>Low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56266052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A45C54-ECE2-53DB-1205-5DA2BC0B70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44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487158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E83895-C23B-9D27-C828-AB5E045652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C32E89-BC96-9996-72AE-05A941E284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70926F-5833-86BC-819B-C164AA2370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Integers, Truncation, and Overflows</a:t>
            </a:r>
          </a:p>
          <a:p>
            <a:r>
              <a:rPr lang="en-US" sz="2400" dirty="0"/>
              <a:t>Floating Point Numbers</a:t>
            </a:r>
          </a:p>
          <a:p>
            <a:r>
              <a:rPr lang="en-US" sz="2400" dirty="0"/>
              <a:t>Fixed Point Numbers</a:t>
            </a:r>
          </a:p>
          <a:p>
            <a:r>
              <a:rPr lang="en-US" sz="2400" dirty="0"/>
              <a:t>Optimal Scaling of </a:t>
            </a:r>
            <a:r>
              <a:rPr lang="en-US" sz="2400" dirty="0" err="1"/>
              <a:t>FixP</a:t>
            </a:r>
            <a:r>
              <a:rPr lang="en-US" sz="2400" dirty="0"/>
              <a:t> Numbers</a:t>
            </a:r>
          </a:p>
          <a:p>
            <a:r>
              <a:rPr lang="en-US" sz="2400" dirty="0"/>
              <a:t>Converting Floating Point Algorithms to Fixed Point</a:t>
            </a:r>
          </a:p>
          <a:p>
            <a:endParaRPr lang="en-US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B29DCB-3BD7-8A32-08C7-85A654BD8D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45</a:t>
            </a:fld>
            <a:endParaRPr lang="en-US" dirty="0"/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1C820A4F-BE0B-5780-6B4F-FEF65AA010C0}"/>
              </a:ext>
            </a:extLst>
          </p:cNvPr>
          <p:cNvSpPr/>
          <p:nvPr/>
        </p:nvSpPr>
        <p:spPr>
          <a:xfrm>
            <a:off x="357366" y="2944368"/>
            <a:ext cx="938784" cy="484632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406678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62BADA18-D65F-2A9A-793C-F3B64681C6E9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Optimal Selection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62BADA18-D65F-2A9A-793C-F3B64681C6E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727" b="-315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1CF2FAF-7274-B9BF-FC17-06BD16DD14F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010400" y="1539277"/>
                <a:ext cx="4145280" cy="4329817"/>
              </a:xfrm>
            </p:spPr>
            <p:txBody>
              <a:bodyPr/>
              <a:lstStyle/>
              <a:p>
                <a:r>
                  <a:rPr lang="en-US" dirty="0"/>
                  <a:t>For each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𝑊</m:t>
                    </m:r>
                  </m:oMath>
                </a14:m>
                <a:r>
                  <a:rPr lang="en-US" dirty="0"/>
                  <a:t> we try different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endParaRPr lang="en-US" dirty="0"/>
              </a:p>
              <a:p>
                <a:r>
                  <a:rPr lang="en-US" dirty="0"/>
                  <a:t>Initially MSE decreases with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Higher precision</a:t>
                </a:r>
              </a:p>
              <a:p>
                <a:r>
                  <a:rPr lang="en-US" dirty="0"/>
                  <a:t>But then MSE increases</a:t>
                </a:r>
              </a:p>
              <a:p>
                <a:pPr lvl="1"/>
                <a:r>
                  <a:rPr lang="en-US" dirty="0"/>
                  <a:t>Overflow</a:t>
                </a:r>
              </a:p>
              <a:p>
                <a:r>
                  <a:rPr lang="en-US" dirty="0"/>
                  <a:t>Optimal value is a few bits below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𝑊</m:t>
                    </m:r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1CF2FAF-7274-B9BF-FC17-06BD16DD14F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010400" y="1539277"/>
                <a:ext cx="4145280" cy="4329817"/>
              </a:xfrm>
              <a:blipFill>
                <a:blip r:embed="rId3"/>
                <a:stretch>
                  <a:fillRect l="-3529" t="-15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EA7C2B-2777-4BF9-2055-8DC51C6CA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46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83BFB84-C0F9-68AA-34C9-4D03882913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2012" y="1600200"/>
            <a:ext cx="5505450" cy="411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239227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5C4006-5E82-D5B1-6230-8C9B03055A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492C01-5ED8-F78B-1944-7F88DCFA44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FB57E5-B009-E729-131E-266B7E72C0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Integers, Truncation, and Overflows</a:t>
            </a:r>
          </a:p>
          <a:p>
            <a:r>
              <a:rPr lang="en-US" sz="2400" dirty="0"/>
              <a:t>Floating Point Numbers</a:t>
            </a:r>
          </a:p>
          <a:p>
            <a:r>
              <a:rPr lang="en-US" sz="2400" dirty="0"/>
              <a:t>Fixed Point Numbers</a:t>
            </a:r>
          </a:p>
          <a:p>
            <a:r>
              <a:rPr lang="en-US" sz="2400" dirty="0"/>
              <a:t>Optimal Scaling of </a:t>
            </a:r>
            <a:r>
              <a:rPr lang="en-US" sz="2400" dirty="0" err="1"/>
              <a:t>FixP</a:t>
            </a:r>
            <a:r>
              <a:rPr lang="en-US" sz="2400" dirty="0"/>
              <a:t> Numbers</a:t>
            </a:r>
          </a:p>
          <a:p>
            <a:r>
              <a:rPr lang="en-US" sz="2400" dirty="0"/>
              <a:t>Converting Floating Point Algorithms to Fixed Point</a:t>
            </a:r>
          </a:p>
          <a:p>
            <a:endParaRPr lang="en-US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4C6CAC-4B58-A770-D004-E12ED02454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47</a:t>
            </a:fld>
            <a:endParaRPr lang="en-US" dirty="0"/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75CF7F47-1D91-3E6B-7DD6-E6B28DE0277F}"/>
              </a:ext>
            </a:extLst>
          </p:cNvPr>
          <p:cNvSpPr/>
          <p:nvPr/>
        </p:nvSpPr>
        <p:spPr>
          <a:xfrm>
            <a:off x="395240" y="3520964"/>
            <a:ext cx="938784" cy="484632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9166878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Violet II">
      <a:dk1>
        <a:sysClr val="windowText" lastClr="000000"/>
      </a:dk1>
      <a:lt1>
        <a:sysClr val="window" lastClr="FFFFFF"/>
      </a:lt1>
      <a:dk2>
        <a:srgbClr val="632E62"/>
      </a:dk2>
      <a:lt2>
        <a:srgbClr val="EAE5EB"/>
      </a:lt2>
      <a:accent1>
        <a:srgbClr val="92278F"/>
      </a:accent1>
      <a:accent2>
        <a:srgbClr val="9B57D3"/>
      </a:accent2>
      <a:accent3>
        <a:srgbClr val="755DD9"/>
      </a:accent3>
      <a:accent4>
        <a:srgbClr val="665EB8"/>
      </a:accent4>
      <a:accent5>
        <a:srgbClr val="45A5ED"/>
      </a:accent5>
      <a:accent6>
        <a:srgbClr val="5982DB"/>
      </a:accent6>
      <a:hlink>
        <a:srgbClr val="0066FF"/>
      </a:hlink>
      <a:folHlink>
        <a:srgbClr val="666699"/>
      </a:folHlink>
    </a:clrScheme>
    <a:fontScheme name="Calibri">
      <a:majorFont>
        <a:latin typeface="Calibri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02006FA4-1611-4B07-AF7F-85CF6D20EB3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14023</TotalTime>
  <Words>2540</Words>
  <Application>Microsoft Office PowerPoint</Application>
  <PresentationFormat>Widescreen</PresentationFormat>
  <Paragraphs>420</Paragraphs>
  <Slides>47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51" baseType="lpstr">
      <vt:lpstr>Calibri</vt:lpstr>
      <vt:lpstr>Cambria Math</vt:lpstr>
      <vt:lpstr>Wingdings</vt:lpstr>
      <vt:lpstr>Retrospect</vt:lpstr>
      <vt:lpstr>Unit 2  Floating and Fixed Point Numbers</vt:lpstr>
      <vt:lpstr>Learning Objectives</vt:lpstr>
      <vt:lpstr>Outline</vt:lpstr>
      <vt:lpstr>Integers</vt:lpstr>
      <vt:lpstr>Truncation</vt:lpstr>
      <vt:lpstr>Sample Problem</vt:lpstr>
      <vt:lpstr>Solution using Binary Representations</vt:lpstr>
      <vt:lpstr>Solution using Modulo Arithmetic</vt:lpstr>
      <vt:lpstr>Simulating Truncation in Python</vt:lpstr>
      <vt:lpstr>Saturation</vt:lpstr>
      <vt:lpstr>Addition Overflow Rules</vt:lpstr>
      <vt:lpstr>Sample Problem</vt:lpstr>
      <vt:lpstr>Addition with Truncation</vt:lpstr>
      <vt:lpstr>Multiplication Overflow </vt:lpstr>
      <vt:lpstr>Summary</vt:lpstr>
      <vt:lpstr>Outline</vt:lpstr>
      <vt:lpstr>Limitations of Integers</vt:lpstr>
      <vt:lpstr>Simple Floating Point</vt:lpstr>
      <vt:lpstr>Example</vt:lpstr>
      <vt:lpstr>Example Problem</vt:lpstr>
      <vt:lpstr>Solution</vt:lpstr>
      <vt:lpstr>Terminology</vt:lpstr>
      <vt:lpstr>Dynamic Range</vt:lpstr>
      <vt:lpstr>Dynamic Range of Integers</vt:lpstr>
      <vt:lpstr>Floating-Point Dynamic Range</vt:lpstr>
      <vt:lpstr>Example Comparison</vt:lpstr>
      <vt:lpstr>IEEE-754 Floating Point Standard</vt:lpstr>
      <vt:lpstr>IEEE 754 Normal and Sub-Normal </vt:lpstr>
      <vt:lpstr>IEEE 754 Properties</vt:lpstr>
      <vt:lpstr>Floating Point Addition</vt:lpstr>
      <vt:lpstr>Resulting Algorithm</vt:lpstr>
      <vt:lpstr>Floating Point Multiplication</vt:lpstr>
      <vt:lpstr>Comparison</vt:lpstr>
      <vt:lpstr>Outline</vt:lpstr>
      <vt:lpstr>Integers vs. Floating Point</vt:lpstr>
      <vt:lpstr>Fixed Point</vt:lpstr>
      <vt:lpstr>Fixed Point Q Notation</vt:lpstr>
      <vt:lpstr>Examples</vt:lpstr>
      <vt:lpstr>Properties</vt:lpstr>
      <vt:lpstr>Arithmetic Operations </vt:lpstr>
      <vt:lpstr>Example Problem</vt:lpstr>
      <vt:lpstr>Solution</vt:lpstr>
      <vt:lpstr>Type Casting</vt:lpstr>
      <vt:lpstr>Comparison</vt:lpstr>
      <vt:lpstr>Outline</vt:lpstr>
      <vt:lpstr>Optimal Selection of n</vt:lpstr>
      <vt:lpstr>Outline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Sundeep Rangan</dc:creator>
  <cp:lastModifiedBy>Sundeep Rangan</cp:lastModifiedBy>
  <cp:revision>602</cp:revision>
  <cp:lastPrinted>2018-09-04T19:00:14Z</cp:lastPrinted>
  <dcterms:created xsi:type="dcterms:W3CDTF">2015-03-22T11:15:32Z</dcterms:created>
  <dcterms:modified xsi:type="dcterms:W3CDTF">2026-01-26T06:11:43Z</dcterms:modified>
</cp:coreProperties>
</file>